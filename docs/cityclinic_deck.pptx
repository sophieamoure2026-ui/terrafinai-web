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home/workdir/artifacts/logo.png">    </p:cNvPr>
          <p:cNvPicPr>
            <a:picLocks noChangeAspect="1"/>
          </p:cNvPicPr>
          <p:nvPr/>
        </p:nvPicPr>
        <p:blipFill>
          <a:blip r:embed="rId1"/>
          <a:srcRect l="0" r="0" t="0" b="0"/>
          <a:stretch/>
        </p:blipFill>
        <p:spPr>
          <a:xfrm>
            <a:off x="548640" y="365760"/>
            <a:ext cx="1645920" cy="548640"/>
          </a:xfrm>
          <a:prstGeom prst="rect">
            <a:avLst/>
          </a:prstGeom>
        </p:spPr>
      </p:pic>
      <p:sp>
        <p:nvSpPr>
          <p:cNvPr id="3" name="Text 0"/>
          <p:cNvSpPr/>
          <p:nvPr/>
        </p:nvSpPr>
        <p:spPr>
          <a:xfrm>
            <a:off x="548640" y="1645920"/>
            <a:ext cx="8046720" cy="73152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CITYCLINIC GROUP</a:t>
            </a:r>
            <a:endParaRPr lang="en-US" sz="4200" dirty="0"/>
          </a:p>
        </p:txBody>
      </p:sp>
      <p:sp>
        <p:nvSpPr>
          <p:cNvPr id="4" name="Text 1"/>
          <p:cNvSpPr/>
          <p:nvPr/>
        </p:nvSpPr>
        <p:spPr>
          <a:xfrm>
            <a:off x="548640" y="2468880"/>
            <a:ext cx="8046720" cy="914400"/>
          </a:xfrm>
          <a:prstGeom prst="rect">
            <a:avLst/>
          </a:prstGeom>
          <a:noFill/>
          <a:ln/>
        </p:spPr>
        <p:txBody>
          <a:bodyPr wrap="square" lIns="0" tIns="0" rIns="0" bIns="0" rtlCol="0" anchor="ctr"/>
          <a:lstStyle/>
          <a:p>
            <a:pPr indent="0" marL="0">
              <a:buNone/>
            </a:pPr>
            <a:r>
              <a:rPr lang="en-US" sz="2200" dirty="0">
                <a:solidFill>
                  <a:srgbClr val="14B8A6"/>
                </a:solidFill>
                <a:latin typeface="Arial" pitchFamily="34" charset="0"/>
                <a:ea typeface="Arial" pitchFamily="34" charset="-122"/>
                <a:cs typeface="Arial" pitchFamily="34" charset="-120"/>
              </a:rPr>
              <a:t>Premium European Care. AI-Powered Scale.</a:t>
            </a:r>
            <a:endParaRPr lang="en-US" sz="2200" dirty="0"/>
          </a:p>
          <a:p>
            <a:pPr indent="0" marL="0">
              <a:buNone/>
            </a:pPr>
            <a:r>
              <a:rPr lang="en-US" sz="2200" dirty="0">
                <a:solidFill>
                  <a:srgbClr val="14B8A6"/>
                </a:solidFill>
                <a:latin typeface="Arial" pitchFamily="34" charset="0"/>
                <a:ea typeface="Arial" pitchFamily="34" charset="-122"/>
                <a:cs typeface="Arial" pitchFamily="34" charset="-120"/>
              </a:rPr>
              <a:t>12–15× Exit Multiple.</a:t>
            </a:r>
            <a:endParaRPr lang="en-US" sz="2200" dirty="0"/>
          </a:p>
        </p:txBody>
      </p:sp>
      <p:sp>
        <p:nvSpPr>
          <p:cNvPr id="5" name="Text 2"/>
          <p:cNvSpPr/>
          <p:nvPr/>
        </p:nvSpPr>
        <p:spPr>
          <a:xfrm>
            <a:off x="548640" y="3566160"/>
            <a:ext cx="8046720" cy="457200"/>
          </a:xfrm>
          <a:prstGeom prst="rect">
            <a:avLst/>
          </a:prstGeom>
          <a:noFill/>
          <a:ln/>
        </p:spPr>
        <p:txBody>
          <a:bodyPr wrap="square" lIns="0" tIns="0" rIns="0" bIns="0" rtlCol="0" anchor="ctr"/>
          <a:lstStyle/>
          <a:p>
            <a:pPr indent="0" marL="0">
              <a:buNone/>
            </a:pPr>
            <a:r>
              <a:rPr lang="en-US" sz="1600" i="1" dirty="0">
                <a:solidFill>
                  <a:srgbClr val="94A3B8"/>
                </a:solidFill>
                <a:latin typeface="Arial" pitchFamily="34" charset="0"/>
                <a:ea typeface="Arial" pitchFamily="34" charset="-122"/>
                <a:cs typeface="Arial" pitchFamily="34" charset="-120"/>
              </a:rPr>
              <a:t>The AI-Driven MedTech &amp; Healthcare Roll-Up</a:t>
            </a:r>
            <a:endParaRPr lang="en-US" sz="1600" dirty="0"/>
          </a:p>
        </p:txBody>
      </p:sp>
      <p:sp>
        <p:nvSpPr>
          <p:cNvPr id="6" name="Text 3"/>
          <p:cNvSpPr/>
          <p:nvPr/>
        </p:nvSpPr>
        <p:spPr>
          <a:xfrm>
            <a:off x="548640" y="4663440"/>
            <a:ext cx="804672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CONFIDENTIAL INVESTOR PRESENTATION  |  SERIES A  |  JULY 2026</a:t>
            </a:r>
            <a:endParaRPr lang="en-US" sz="1000" dirty="0"/>
          </a:p>
        </p:txBody>
      </p:sp>
      <p:sp>
        <p:nvSpPr>
          <p:cNvPr id="7" name="Text 4"/>
          <p:cNvSpPr/>
          <p:nvPr/>
        </p:nvSpPr>
        <p:spPr>
          <a:xfrm>
            <a:off x="7772400" y="4754880"/>
            <a:ext cx="1097280" cy="274320"/>
          </a:xfrm>
          <a:prstGeom prst="rect">
            <a:avLst/>
          </a:prstGeom>
          <a:noFill/>
          <a:ln/>
        </p:spPr>
        <p:txBody>
          <a:bodyPr wrap="square" lIns="0" tIns="0" rIns="0" bIns="0" rtlCol="0" anchor="ctr"/>
          <a:lstStyle/>
          <a:p>
            <a:pPr algn="r" indent="0" marL="0">
              <a:buNone/>
            </a:pPr>
            <a:r>
              <a:rPr lang="en-US" sz="1000" dirty="0">
                <a:solidFill>
                  <a:srgbClr val="64748B"/>
                </a:solidFill>
                <a:latin typeface="Arial" pitchFamily="34" charset="0"/>
                <a:ea typeface="Arial" pitchFamily="34" charset="-122"/>
                <a:cs typeface="Arial" pitchFamily="34" charset="-120"/>
              </a:rPr>
              <a:t>01  /  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45720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THE OPPORTUNITY</a:t>
            </a:r>
            <a:endParaRPr lang="en-US" sz="1100" dirty="0"/>
          </a:p>
        </p:txBody>
      </p:sp>
      <p:sp>
        <p:nvSpPr>
          <p:cNvPr id="4" name="Text 2"/>
          <p:cNvSpPr/>
          <p:nvPr/>
        </p:nvSpPr>
        <p:spPr>
          <a:xfrm>
            <a:off x="457200" y="685800"/>
            <a:ext cx="8229600" cy="914400"/>
          </a:xfrm>
          <a:prstGeom prst="rect">
            <a:avLst/>
          </a:prstGeom>
          <a:noFill/>
          <a:ln/>
        </p:spPr>
        <p:txBody>
          <a:bodyPr wrap="square" lIns="0" tIns="0" rIns="0" bIns="0" rtlCol="0" anchor="ctr"/>
          <a:lstStyle/>
          <a:p>
            <a:pPr indent="0" marL="0">
              <a:buNone/>
            </a:pPr>
            <a:r>
              <a:rPr lang="en-US" sz="2600" b="1" dirty="0">
                <a:solidFill>
                  <a:srgbClr val="1E293B"/>
                </a:solidFill>
                <a:latin typeface="Arial" pitchFamily="34" charset="0"/>
                <a:ea typeface="Arial" pitchFamily="34" charset="-122"/>
                <a:cs typeface="Arial" pitchFamily="34" charset="-120"/>
              </a:rPr>
              <a:t>European Dental &amp; Medical Aesthetics:</a:t>
            </a:r>
            <a:endParaRPr lang="en-US" sz="2600" dirty="0"/>
          </a:p>
          <a:p>
            <a:pPr indent="0" marL="0">
              <a:buNone/>
            </a:pPr>
            <a:r>
              <a:rPr lang="en-US" sz="2600" b="1" dirty="0">
                <a:solidFill>
                  <a:srgbClr val="1E293B"/>
                </a:solidFill>
                <a:latin typeface="Arial" pitchFamily="34" charset="0"/>
                <a:ea typeface="Arial" pitchFamily="34" charset="-122"/>
                <a:cs typeface="Arial" pitchFamily="34" charset="-120"/>
              </a:rPr>
              <a:t>High Demand, High Cost, Fragmented Supply</a:t>
            </a:r>
            <a:endParaRPr lang="en-US" sz="2600" dirty="0"/>
          </a:p>
        </p:txBody>
      </p:sp>
      <p:sp>
        <p:nvSpPr>
          <p:cNvPr id="5" name="Shape 3"/>
          <p:cNvSpPr/>
          <p:nvPr/>
        </p:nvSpPr>
        <p:spPr>
          <a:xfrm>
            <a:off x="457200" y="1828800"/>
            <a:ext cx="4023360" cy="1280160"/>
          </a:xfrm>
          <a:prstGeom prst="roundRect">
            <a:avLst>
              <a:gd name="adj" fmla="val 7143"/>
            </a:avLst>
          </a:prstGeom>
          <a:solidFill>
            <a:srgbClr val="FFFFFF"/>
          </a:solidFill>
          <a:ln/>
          <a:effectLst>
            <a:outerShdw sx="100000" sy="100000" kx="0" ky="0" algn="bl" rotWithShape="0" blurRad="101600" dist="25400" dir="81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640080" y="2057400"/>
            <a:ext cx="411480" cy="411480"/>
          </a:xfrm>
          <a:prstGeom prst="rect">
            <a:avLst/>
          </a:prstGeom>
        </p:spPr>
      </p:pic>
      <p:sp>
        <p:nvSpPr>
          <p:cNvPr id="7" name="Text 4"/>
          <p:cNvSpPr/>
          <p:nvPr/>
        </p:nvSpPr>
        <p:spPr>
          <a:xfrm>
            <a:off x="1188720" y="2011680"/>
            <a:ext cx="3108960" cy="50292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€85B+</a:t>
            </a:r>
            <a:endParaRPr lang="en-US" sz="2200" dirty="0"/>
          </a:p>
        </p:txBody>
      </p:sp>
      <p:sp>
        <p:nvSpPr>
          <p:cNvPr id="8" name="Text 5"/>
          <p:cNvSpPr/>
          <p:nvPr/>
        </p:nvSpPr>
        <p:spPr>
          <a:xfrm>
            <a:off x="1188720" y="2514600"/>
            <a:ext cx="3108960" cy="4572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European Dental Market (2026E)</a:t>
            </a:r>
            <a:endParaRPr lang="en-US" sz="1200" dirty="0"/>
          </a:p>
        </p:txBody>
      </p:sp>
      <p:sp>
        <p:nvSpPr>
          <p:cNvPr id="9" name="Shape 6"/>
          <p:cNvSpPr/>
          <p:nvPr/>
        </p:nvSpPr>
        <p:spPr>
          <a:xfrm>
            <a:off x="4754880" y="1828800"/>
            <a:ext cx="4023360" cy="1280160"/>
          </a:xfrm>
          <a:prstGeom prst="roundRect">
            <a:avLst>
              <a:gd name="adj" fmla="val 7143"/>
            </a:avLst>
          </a:prstGeom>
          <a:solidFill>
            <a:srgbClr val="FFFFFF"/>
          </a:solidFill>
          <a:ln/>
          <a:effectLst>
            <a:outerShdw sx="100000" sy="100000" kx="0" ky="0" algn="bl" rotWithShape="0" blurRad="101600" dist="25400" dir="8100000">
              <a:srgbClr val="000000">
                <a:alpha val="8000"/>
              </a:srgbClr>
            </a:outerShdw>
          </a:effectLst>
        </p:spPr>
      </p:sp>
      <p:pic>
        <p:nvPicPr>
          <p:cNvPr id="10" name="Image 1" descr="preencoded.png">    </p:cNvPr>
          <p:cNvPicPr>
            <a:picLocks noChangeAspect="1"/>
          </p:cNvPicPr>
          <p:nvPr/>
        </p:nvPicPr>
        <p:blipFill>
          <a:blip r:embed="rId2"/>
          <a:stretch>
            <a:fillRect/>
          </a:stretch>
        </p:blipFill>
        <p:spPr>
          <a:xfrm>
            <a:off x="4937760" y="2057400"/>
            <a:ext cx="411480" cy="411480"/>
          </a:xfrm>
          <a:prstGeom prst="rect">
            <a:avLst/>
          </a:prstGeom>
        </p:spPr>
      </p:pic>
      <p:sp>
        <p:nvSpPr>
          <p:cNvPr id="11" name="Text 7"/>
          <p:cNvSpPr/>
          <p:nvPr/>
        </p:nvSpPr>
        <p:spPr>
          <a:xfrm>
            <a:off x="5486400" y="2011680"/>
            <a:ext cx="3108960" cy="50292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8–10%</a:t>
            </a:r>
            <a:endParaRPr lang="en-US" sz="2200" dirty="0"/>
          </a:p>
        </p:txBody>
      </p:sp>
      <p:sp>
        <p:nvSpPr>
          <p:cNvPr id="12" name="Text 8"/>
          <p:cNvSpPr/>
          <p:nvPr/>
        </p:nvSpPr>
        <p:spPr>
          <a:xfrm>
            <a:off x="5486400" y="2514600"/>
            <a:ext cx="3108960" cy="4572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Annual Growth in Premium &amp; Cosmetic Segments</a:t>
            </a:r>
            <a:endParaRPr lang="en-US" sz="1200" dirty="0"/>
          </a:p>
        </p:txBody>
      </p:sp>
      <p:sp>
        <p:nvSpPr>
          <p:cNvPr id="13" name="Shape 9"/>
          <p:cNvSpPr/>
          <p:nvPr/>
        </p:nvSpPr>
        <p:spPr>
          <a:xfrm>
            <a:off x="457200" y="3291840"/>
            <a:ext cx="4023360" cy="1280160"/>
          </a:xfrm>
          <a:prstGeom prst="roundRect">
            <a:avLst>
              <a:gd name="adj" fmla="val 7143"/>
            </a:avLst>
          </a:prstGeom>
          <a:solidFill>
            <a:srgbClr val="FFFFFF"/>
          </a:solidFill>
          <a:ln/>
          <a:effectLst>
            <a:outerShdw sx="100000" sy="100000" kx="0" ky="0" algn="bl" rotWithShape="0" blurRad="101600" dist="25400" dir="8100000">
              <a:srgbClr val="000000">
                <a:alpha val="8000"/>
              </a:srgbClr>
            </a:outerShdw>
          </a:effectLst>
        </p:spPr>
      </p:sp>
      <p:pic>
        <p:nvPicPr>
          <p:cNvPr id="14" name="Image 2" descr="preencoded.png">    </p:cNvPr>
          <p:cNvPicPr>
            <a:picLocks noChangeAspect="1"/>
          </p:cNvPicPr>
          <p:nvPr/>
        </p:nvPicPr>
        <p:blipFill>
          <a:blip r:embed="rId3"/>
          <a:stretch>
            <a:fillRect/>
          </a:stretch>
        </p:blipFill>
        <p:spPr>
          <a:xfrm>
            <a:off x="640080" y="3520440"/>
            <a:ext cx="411480" cy="411480"/>
          </a:xfrm>
          <a:prstGeom prst="rect">
            <a:avLst/>
          </a:prstGeom>
        </p:spPr>
      </p:pic>
      <p:sp>
        <p:nvSpPr>
          <p:cNvPr id="15" name="Text 10"/>
          <p:cNvSpPr/>
          <p:nvPr/>
        </p:nvSpPr>
        <p:spPr>
          <a:xfrm>
            <a:off x="1188720" y="3474720"/>
            <a:ext cx="3108960" cy="50292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60%+</a:t>
            </a:r>
            <a:endParaRPr lang="en-US" sz="2200" dirty="0"/>
          </a:p>
        </p:txBody>
      </p:sp>
      <p:sp>
        <p:nvSpPr>
          <p:cNvPr id="16" name="Text 11"/>
          <p:cNvSpPr/>
          <p:nvPr/>
        </p:nvSpPr>
        <p:spPr>
          <a:xfrm>
            <a:off x="1188720" y="3977640"/>
            <a:ext cx="3108960" cy="4572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Patients Seeking Better Value vs Northern EU Prices</a:t>
            </a:r>
            <a:endParaRPr lang="en-US" sz="1200" dirty="0"/>
          </a:p>
        </p:txBody>
      </p:sp>
      <p:sp>
        <p:nvSpPr>
          <p:cNvPr id="17" name="Shape 12"/>
          <p:cNvSpPr/>
          <p:nvPr/>
        </p:nvSpPr>
        <p:spPr>
          <a:xfrm>
            <a:off x="4754880" y="3291840"/>
            <a:ext cx="4023360" cy="1280160"/>
          </a:xfrm>
          <a:prstGeom prst="roundRect">
            <a:avLst>
              <a:gd name="adj" fmla="val 7143"/>
            </a:avLst>
          </a:prstGeom>
          <a:solidFill>
            <a:srgbClr val="FFFFFF"/>
          </a:solidFill>
          <a:ln/>
          <a:effectLst>
            <a:outerShdw sx="100000" sy="100000" kx="0" ky="0" algn="bl" rotWithShape="0" blurRad="101600" dist="25400" dir="8100000">
              <a:srgbClr val="000000">
                <a:alpha val="8000"/>
              </a:srgbClr>
            </a:outerShdw>
          </a:effectLst>
        </p:spPr>
      </p:sp>
      <p:pic>
        <p:nvPicPr>
          <p:cNvPr id="18" name="Image 3" descr="preencoded.png">    </p:cNvPr>
          <p:cNvPicPr>
            <a:picLocks noChangeAspect="1"/>
          </p:cNvPicPr>
          <p:nvPr/>
        </p:nvPicPr>
        <p:blipFill>
          <a:blip r:embed="rId4"/>
          <a:stretch>
            <a:fillRect/>
          </a:stretch>
        </p:blipFill>
        <p:spPr>
          <a:xfrm>
            <a:off x="4937760" y="3520440"/>
            <a:ext cx="411480" cy="411480"/>
          </a:xfrm>
          <a:prstGeom prst="rect">
            <a:avLst/>
          </a:prstGeom>
        </p:spPr>
      </p:pic>
      <p:sp>
        <p:nvSpPr>
          <p:cNvPr id="19" name="Text 13"/>
          <p:cNvSpPr/>
          <p:nvPr/>
        </p:nvSpPr>
        <p:spPr>
          <a:xfrm>
            <a:off x="5486400" y="3474720"/>
            <a:ext cx="3108960" cy="502920"/>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Strong</a:t>
            </a:r>
            <a:endParaRPr lang="en-US" sz="2200" dirty="0"/>
          </a:p>
        </p:txBody>
      </p:sp>
      <p:sp>
        <p:nvSpPr>
          <p:cNvPr id="20" name="Text 14"/>
          <p:cNvSpPr/>
          <p:nvPr/>
        </p:nvSpPr>
        <p:spPr>
          <a:xfrm>
            <a:off x="5486400" y="3977640"/>
            <a:ext cx="3108960" cy="4572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Medical Tourism Tailwinds in Spain &amp; CEE</a:t>
            </a:r>
            <a:endParaRPr lang="en-US" sz="1200" dirty="0"/>
          </a:p>
        </p:txBody>
      </p:sp>
      <p:sp>
        <p:nvSpPr>
          <p:cNvPr id="21" name="Text 15"/>
          <p:cNvSpPr/>
          <p:nvPr/>
        </p:nvSpPr>
        <p:spPr>
          <a:xfrm>
            <a:off x="457200" y="4754880"/>
            <a:ext cx="8229600" cy="274320"/>
          </a:xfrm>
          <a:prstGeom prst="rect">
            <a:avLst/>
          </a:prstGeom>
          <a:noFill/>
          <a:ln/>
        </p:spPr>
        <p:txBody>
          <a:bodyPr wrap="square" lIns="0" tIns="0" rIns="0" bIns="0" rtlCol="0" anchor="ctr"/>
          <a:lstStyle/>
          <a:p>
            <a:pPr indent="0" marL="0">
              <a:buNone/>
            </a:pPr>
            <a:r>
              <a:rPr lang="en-US" sz="1200" i="1" dirty="0">
                <a:solidFill>
                  <a:srgbClr val="0F766E"/>
                </a:solidFill>
                <a:latin typeface="Arial" pitchFamily="34" charset="0"/>
                <a:ea typeface="Arial" pitchFamily="34" charset="-122"/>
                <a:cs typeface="Arial" pitchFamily="34" charset="-120"/>
              </a:rPr>
              <a:t>CityClinic bridges the gap: Premium outcomes at accessible entry points + tech-enabled scale.</a:t>
            </a:r>
            <a:endParaRPr lang="en-US" sz="1200" dirty="0"/>
          </a:p>
        </p:txBody>
      </p:sp>
      <p:sp>
        <p:nvSpPr>
          <p:cNvPr id="22" name="Text 16"/>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THE VALUE PROPOSITION</a:t>
            </a:r>
            <a:endParaRPr lang="en-US" sz="1100" dirty="0"/>
          </a:p>
        </p:txBody>
      </p:sp>
      <p:sp>
        <p:nvSpPr>
          <p:cNvPr id="4" name="Text 2"/>
          <p:cNvSpPr/>
          <p:nvPr/>
        </p:nvSpPr>
        <p:spPr>
          <a:xfrm>
            <a:off x="457200" y="640080"/>
            <a:ext cx="8229600" cy="548640"/>
          </a:xfrm>
          <a:prstGeom prst="rect">
            <a:avLst/>
          </a:prstGeom>
          <a:noFill/>
          <a:ln/>
        </p:spPr>
        <p:txBody>
          <a:bodyPr wrap="square" lIns="0" tIns="0" rIns="0" bIns="0" rtlCol="0" anchor="ctr"/>
          <a:lstStyle/>
          <a:p>
            <a:pPr indent="0" marL="0">
              <a:buNone/>
            </a:pPr>
            <a:r>
              <a:rPr lang="en-US" sz="2400" b="1" dirty="0">
                <a:solidFill>
                  <a:srgbClr val="1E293B"/>
                </a:solidFill>
                <a:latin typeface="Arial" pitchFamily="34" charset="0"/>
                <a:ea typeface="Arial" pitchFamily="34" charset="-122"/>
                <a:cs typeface="Arial" pitchFamily="34" charset="-120"/>
              </a:rPr>
              <a:t>Margins at Every Stage of the Journey</a:t>
            </a:r>
            <a:endParaRPr lang="en-US" sz="2400" dirty="0"/>
          </a:p>
        </p:txBody>
      </p:sp>
      <p:sp>
        <p:nvSpPr>
          <p:cNvPr id="5" name="Shape 3"/>
          <p:cNvSpPr/>
          <p:nvPr/>
        </p:nvSpPr>
        <p:spPr>
          <a:xfrm>
            <a:off x="457200" y="1371600"/>
            <a:ext cx="8229600" cy="1051560"/>
          </a:xfrm>
          <a:prstGeom prst="roundRect">
            <a:avLst>
              <a:gd name="adj" fmla="val 6957"/>
            </a:avLst>
          </a:prstGeom>
          <a:solidFill>
            <a:srgbClr val="FFFFFF"/>
          </a:solidFill>
          <a:ln/>
          <a:effectLst>
            <a:outerShdw sx="100000" sy="100000" kx="0" ky="0" algn="bl" rotWithShape="0" blurRad="76200" dist="25400" dir="8100000">
              <a:srgbClr val="000000">
                <a:alpha val="6000"/>
              </a:srgbClr>
            </a:outerShdw>
          </a:effectLst>
        </p:spPr>
      </p:sp>
      <p:sp>
        <p:nvSpPr>
          <p:cNvPr id="6" name="Shape 4"/>
          <p:cNvSpPr/>
          <p:nvPr/>
        </p:nvSpPr>
        <p:spPr>
          <a:xfrm>
            <a:off x="640080" y="1600200"/>
            <a:ext cx="594360" cy="594360"/>
          </a:xfrm>
          <a:prstGeom prst="ellipse">
            <a:avLst/>
          </a:prstGeom>
          <a:solidFill>
            <a:srgbClr val="0D9488"/>
          </a:solidFill>
          <a:ln/>
        </p:spPr>
      </p:sp>
      <p:sp>
        <p:nvSpPr>
          <p:cNvPr id="7" name="Text 5"/>
          <p:cNvSpPr/>
          <p:nvPr/>
        </p:nvSpPr>
        <p:spPr>
          <a:xfrm>
            <a:off x="640080" y="1691640"/>
            <a:ext cx="594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8" name="Text 6"/>
          <p:cNvSpPr/>
          <p:nvPr/>
        </p:nvSpPr>
        <p:spPr>
          <a:xfrm>
            <a:off x="1417320" y="1554480"/>
            <a:ext cx="704088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Luxury, Tech-Forward Care</a:t>
            </a:r>
            <a:endParaRPr lang="en-US" sz="1600" dirty="0"/>
          </a:p>
        </p:txBody>
      </p:sp>
      <p:sp>
        <p:nvSpPr>
          <p:cNvPr id="9" name="Text 7"/>
          <p:cNvSpPr/>
          <p:nvPr/>
        </p:nvSpPr>
        <p:spPr>
          <a:xfrm>
            <a:off x="1417320" y="1920240"/>
            <a:ext cx="7040880" cy="4572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Premium transformations at highly competitive entry points. €179 premium whitening as the hook into high-value procedures.</a:t>
            </a:r>
            <a:endParaRPr lang="en-US" sz="1200" dirty="0"/>
          </a:p>
        </p:txBody>
      </p:sp>
      <p:sp>
        <p:nvSpPr>
          <p:cNvPr id="10" name="Shape 8"/>
          <p:cNvSpPr/>
          <p:nvPr/>
        </p:nvSpPr>
        <p:spPr>
          <a:xfrm>
            <a:off x="457200" y="2560320"/>
            <a:ext cx="8229600" cy="1051560"/>
          </a:xfrm>
          <a:prstGeom prst="roundRect">
            <a:avLst>
              <a:gd name="adj" fmla="val 6957"/>
            </a:avLst>
          </a:prstGeom>
          <a:solidFill>
            <a:srgbClr val="FFFFFF"/>
          </a:solidFill>
          <a:ln/>
          <a:effectLst>
            <a:outerShdw sx="100000" sy="100000" kx="0" ky="0" algn="bl" rotWithShape="0" blurRad="76200" dist="25400" dir="8100000">
              <a:srgbClr val="000000">
                <a:alpha val="6000"/>
              </a:srgbClr>
            </a:outerShdw>
          </a:effectLst>
        </p:spPr>
      </p:sp>
      <p:sp>
        <p:nvSpPr>
          <p:cNvPr id="11" name="Shape 9"/>
          <p:cNvSpPr/>
          <p:nvPr/>
        </p:nvSpPr>
        <p:spPr>
          <a:xfrm>
            <a:off x="640080" y="2788920"/>
            <a:ext cx="594360" cy="594360"/>
          </a:xfrm>
          <a:prstGeom prst="ellipse">
            <a:avLst/>
          </a:prstGeom>
          <a:solidFill>
            <a:srgbClr val="0D9488"/>
          </a:solidFill>
          <a:ln/>
        </p:spPr>
      </p:sp>
      <p:sp>
        <p:nvSpPr>
          <p:cNvPr id="12" name="Text 10"/>
          <p:cNvSpPr/>
          <p:nvPr/>
        </p:nvSpPr>
        <p:spPr>
          <a:xfrm>
            <a:off x="640080" y="2880360"/>
            <a:ext cx="594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13" name="Text 11"/>
          <p:cNvSpPr/>
          <p:nvPr/>
        </p:nvSpPr>
        <p:spPr>
          <a:xfrm>
            <a:off x="1417320" y="2743200"/>
            <a:ext cx="704088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Made-in-EU Value</a:t>
            </a:r>
            <a:endParaRPr lang="en-US" sz="1600" dirty="0"/>
          </a:p>
        </p:txBody>
      </p:sp>
      <p:sp>
        <p:nvSpPr>
          <p:cNvPr id="14" name="Text 12"/>
          <p:cNvSpPr/>
          <p:nvPr/>
        </p:nvSpPr>
        <p:spPr>
          <a:xfrm>
            <a:off x="1417320" y="3108960"/>
            <a:ext cx="7040880" cy="4572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Premium prosthetics and cosmetics at up to 60% discount to Northern EU fees. GMP-certified Spanish production, no heavy CapEx.</a:t>
            </a:r>
            <a:endParaRPr lang="en-US" sz="1200" dirty="0"/>
          </a:p>
        </p:txBody>
      </p:sp>
      <p:sp>
        <p:nvSpPr>
          <p:cNvPr id="15" name="Shape 13"/>
          <p:cNvSpPr/>
          <p:nvPr/>
        </p:nvSpPr>
        <p:spPr>
          <a:xfrm>
            <a:off x="457200" y="3749040"/>
            <a:ext cx="8229600" cy="1051560"/>
          </a:xfrm>
          <a:prstGeom prst="roundRect">
            <a:avLst>
              <a:gd name="adj" fmla="val 6957"/>
            </a:avLst>
          </a:prstGeom>
          <a:solidFill>
            <a:srgbClr val="FFFFFF"/>
          </a:solidFill>
          <a:ln/>
          <a:effectLst>
            <a:outerShdw sx="100000" sy="100000" kx="0" ky="0" algn="bl" rotWithShape="0" blurRad="76200" dist="25400" dir="8100000">
              <a:srgbClr val="000000">
                <a:alpha val="6000"/>
              </a:srgbClr>
            </a:outerShdw>
          </a:effectLst>
        </p:spPr>
      </p:sp>
      <p:sp>
        <p:nvSpPr>
          <p:cNvPr id="16" name="Shape 14"/>
          <p:cNvSpPr/>
          <p:nvPr/>
        </p:nvSpPr>
        <p:spPr>
          <a:xfrm>
            <a:off x="640080" y="3977640"/>
            <a:ext cx="594360" cy="594360"/>
          </a:xfrm>
          <a:prstGeom prst="ellipse">
            <a:avLst/>
          </a:prstGeom>
          <a:solidFill>
            <a:srgbClr val="0D9488"/>
          </a:solidFill>
          <a:ln/>
        </p:spPr>
      </p:sp>
      <p:sp>
        <p:nvSpPr>
          <p:cNvPr id="17" name="Text 15"/>
          <p:cNvSpPr/>
          <p:nvPr/>
        </p:nvSpPr>
        <p:spPr>
          <a:xfrm>
            <a:off x="640080" y="4069080"/>
            <a:ext cx="594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18" name="Text 16"/>
          <p:cNvSpPr/>
          <p:nvPr/>
        </p:nvSpPr>
        <p:spPr>
          <a:xfrm>
            <a:off x="1417320" y="3931920"/>
            <a:ext cx="704088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Asset-Light Scale</a:t>
            </a:r>
            <a:endParaRPr lang="en-US" sz="1600" dirty="0"/>
          </a:p>
        </p:txBody>
      </p:sp>
      <p:sp>
        <p:nvSpPr>
          <p:cNvPr id="19" name="Text 17"/>
          <p:cNvSpPr/>
          <p:nvPr/>
        </p:nvSpPr>
        <p:spPr>
          <a:xfrm>
            <a:off x="1417320" y="4297680"/>
            <a:ext cx="7040880" cy="4572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Targeting 30% EBITDA margins and 12–15× tech multiplier at exit. Multiple high-margin revenue streams with low fixed costs.</a:t>
            </a:r>
            <a:endParaRPr lang="en-US" sz="1200" dirty="0"/>
          </a:p>
        </p:txBody>
      </p:sp>
      <p:sp>
        <p:nvSpPr>
          <p:cNvPr id="20" name="Text 18"/>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THE RAPID SCALING ENGINE</a:t>
            </a:r>
            <a:endParaRPr lang="en-US" sz="1100" dirty="0"/>
          </a:p>
        </p:txBody>
      </p:sp>
      <p:sp>
        <p:nvSpPr>
          <p:cNvPr id="4" name="Text 2"/>
          <p:cNvSpPr/>
          <p:nvPr/>
        </p:nvSpPr>
        <p:spPr>
          <a:xfrm>
            <a:off x="457200" y="640080"/>
            <a:ext cx="8229600" cy="457200"/>
          </a:xfrm>
          <a:prstGeom prst="rect">
            <a:avLst/>
          </a:prstGeom>
          <a:noFill/>
          <a:ln/>
        </p:spPr>
        <p:txBody>
          <a:bodyPr wrap="square" lIns="0" tIns="0" rIns="0" bIns="0" rtlCol="0" anchor="ctr"/>
          <a:lstStyle/>
          <a:p>
            <a:pPr indent="0" marL="0">
              <a:buNone/>
            </a:pPr>
            <a:r>
              <a:rPr lang="en-US" sz="2200" b="1" dirty="0">
                <a:solidFill>
                  <a:srgbClr val="1E293B"/>
                </a:solidFill>
                <a:latin typeface="Arial" pitchFamily="34" charset="0"/>
                <a:ea typeface="Arial" pitchFamily="34" charset="-122"/>
                <a:cs typeface="Arial" pitchFamily="34" charset="-120"/>
              </a:rPr>
              <a:t>Built for Velocity — Six Integrated Levers</a:t>
            </a:r>
            <a:endParaRPr lang="en-US" sz="2200" dirty="0"/>
          </a:p>
        </p:txBody>
      </p:sp>
      <p:sp>
        <p:nvSpPr>
          <p:cNvPr id="5" name="Shape 3"/>
          <p:cNvSpPr/>
          <p:nvPr/>
        </p:nvSpPr>
        <p:spPr>
          <a:xfrm>
            <a:off x="457200" y="1280160"/>
            <a:ext cx="2697480" cy="1645920"/>
          </a:xfrm>
          <a:prstGeom prst="roundRect">
            <a:avLst>
              <a:gd name="adj" fmla="val 4444"/>
            </a:avLst>
          </a:prstGeom>
          <a:solidFill>
            <a:srgbClr val="FFFFFF"/>
          </a:solidFill>
          <a:ln/>
          <a:effectLst>
            <a:outerShdw sx="100000" sy="100000" kx="0" ky="0" algn="bl" rotWithShape="0" blurRad="76200" dist="25400" dir="8100000">
              <a:srgbClr val="000000">
                <a:alpha val="6000"/>
              </a:srgbClr>
            </a:outerShdw>
          </a:effectLst>
        </p:spPr>
      </p:sp>
      <p:pic>
        <p:nvPicPr>
          <p:cNvPr id="6" name="Image 0" descr="preencoded.png">    </p:cNvPr>
          <p:cNvPicPr>
            <a:picLocks noChangeAspect="1"/>
          </p:cNvPicPr>
          <p:nvPr/>
        </p:nvPicPr>
        <p:blipFill>
          <a:blip r:embed="rId1"/>
          <a:stretch>
            <a:fillRect/>
          </a:stretch>
        </p:blipFill>
        <p:spPr>
          <a:xfrm>
            <a:off x="640080" y="1463040"/>
            <a:ext cx="365760" cy="365760"/>
          </a:xfrm>
          <a:prstGeom prst="rect">
            <a:avLst/>
          </a:prstGeom>
        </p:spPr>
      </p:pic>
      <p:sp>
        <p:nvSpPr>
          <p:cNvPr id="7" name="Text 4"/>
          <p:cNvSpPr/>
          <p:nvPr/>
        </p:nvSpPr>
        <p:spPr>
          <a:xfrm>
            <a:off x="640080" y="1920240"/>
            <a:ext cx="2331720" cy="320040"/>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01  Corporate Clinics</a:t>
            </a:r>
            <a:endParaRPr lang="en-US" sz="1200" dirty="0"/>
          </a:p>
        </p:txBody>
      </p:sp>
      <p:sp>
        <p:nvSpPr>
          <p:cNvPr id="8" name="Text 5"/>
          <p:cNvSpPr/>
          <p:nvPr/>
        </p:nvSpPr>
        <p:spPr>
          <a:xfrm>
            <a:off x="640080" y="2286000"/>
            <a:ext cx="2331720" cy="5029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4 European flagships (starting Marbella)</a:t>
            </a:r>
            <a:endParaRPr lang="en-US" sz="1000" dirty="0"/>
          </a:p>
        </p:txBody>
      </p:sp>
      <p:sp>
        <p:nvSpPr>
          <p:cNvPr id="9" name="Shape 6"/>
          <p:cNvSpPr/>
          <p:nvPr/>
        </p:nvSpPr>
        <p:spPr>
          <a:xfrm>
            <a:off x="3291840" y="1280160"/>
            <a:ext cx="2697480" cy="1645920"/>
          </a:xfrm>
          <a:prstGeom prst="roundRect">
            <a:avLst>
              <a:gd name="adj" fmla="val 4444"/>
            </a:avLst>
          </a:prstGeom>
          <a:solidFill>
            <a:srgbClr val="FFFFFF"/>
          </a:solidFill>
          <a:ln/>
          <a:effectLst>
            <a:outerShdw sx="100000" sy="100000" kx="0" ky="0" algn="bl" rotWithShape="0" blurRad="76200" dist="25400" dir="8100000">
              <a:srgbClr val="000000">
                <a:alpha val="6000"/>
              </a:srgbClr>
            </a:outerShdw>
          </a:effectLst>
        </p:spPr>
      </p:sp>
      <p:pic>
        <p:nvPicPr>
          <p:cNvPr id="10" name="Image 1" descr="preencoded.png">    </p:cNvPr>
          <p:cNvPicPr>
            <a:picLocks noChangeAspect="1"/>
          </p:cNvPicPr>
          <p:nvPr/>
        </p:nvPicPr>
        <p:blipFill>
          <a:blip r:embed="rId2"/>
          <a:stretch>
            <a:fillRect/>
          </a:stretch>
        </p:blipFill>
        <p:spPr>
          <a:xfrm>
            <a:off x="3474720" y="1463040"/>
            <a:ext cx="365760" cy="365760"/>
          </a:xfrm>
          <a:prstGeom prst="rect">
            <a:avLst/>
          </a:prstGeom>
        </p:spPr>
      </p:pic>
      <p:sp>
        <p:nvSpPr>
          <p:cNvPr id="11" name="Text 7"/>
          <p:cNvSpPr/>
          <p:nvPr/>
        </p:nvSpPr>
        <p:spPr>
          <a:xfrm>
            <a:off x="3474720" y="1920240"/>
            <a:ext cx="2331720" cy="320040"/>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02  Express Kiosks</a:t>
            </a:r>
            <a:endParaRPr lang="en-US" sz="1200" dirty="0"/>
          </a:p>
        </p:txBody>
      </p:sp>
      <p:sp>
        <p:nvSpPr>
          <p:cNvPr id="12" name="Text 8"/>
          <p:cNvSpPr/>
          <p:nvPr/>
        </p:nvSpPr>
        <p:spPr>
          <a:xfrm>
            <a:off x="3474720" y="2286000"/>
            <a:ext cx="2331720" cy="5029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High-volume retail “Smile Pods” in malls</a:t>
            </a:r>
            <a:endParaRPr lang="en-US" sz="1000" dirty="0"/>
          </a:p>
        </p:txBody>
      </p:sp>
      <p:sp>
        <p:nvSpPr>
          <p:cNvPr id="13" name="Shape 9"/>
          <p:cNvSpPr/>
          <p:nvPr/>
        </p:nvSpPr>
        <p:spPr>
          <a:xfrm>
            <a:off x="6126480" y="1280160"/>
            <a:ext cx="2697480" cy="1645920"/>
          </a:xfrm>
          <a:prstGeom prst="roundRect">
            <a:avLst>
              <a:gd name="adj" fmla="val 4444"/>
            </a:avLst>
          </a:prstGeom>
          <a:solidFill>
            <a:srgbClr val="FFFFFF"/>
          </a:solidFill>
          <a:ln/>
          <a:effectLst>
            <a:outerShdw sx="100000" sy="100000" kx="0" ky="0" algn="bl" rotWithShape="0" blurRad="76200" dist="25400" dir="8100000">
              <a:srgbClr val="000000">
                <a:alpha val="6000"/>
              </a:srgbClr>
            </a:outerShdw>
          </a:effectLst>
        </p:spPr>
      </p:sp>
      <p:pic>
        <p:nvPicPr>
          <p:cNvPr id="14" name="Image 2" descr="preencoded.png">    </p:cNvPr>
          <p:cNvPicPr>
            <a:picLocks noChangeAspect="1"/>
          </p:cNvPicPr>
          <p:nvPr/>
        </p:nvPicPr>
        <p:blipFill>
          <a:blip r:embed="rId3"/>
          <a:stretch>
            <a:fillRect/>
          </a:stretch>
        </p:blipFill>
        <p:spPr>
          <a:xfrm>
            <a:off x="6309360" y="1463040"/>
            <a:ext cx="365760" cy="365760"/>
          </a:xfrm>
          <a:prstGeom prst="rect">
            <a:avLst/>
          </a:prstGeom>
        </p:spPr>
      </p:pic>
      <p:sp>
        <p:nvSpPr>
          <p:cNvPr id="15" name="Text 10"/>
          <p:cNvSpPr/>
          <p:nvPr/>
        </p:nvSpPr>
        <p:spPr>
          <a:xfrm>
            <a:off x="6309360" y="1920240"/>
            <a:ext cx="2331720" cy="320040"/>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03  B2B Lab Exports</a:t>
            </a:r>
            <a:endParaRPr lang="en-US" sz="1200" dirty="0"/>
          </a:p>
        </p:txBody>
      </p:sp>
      <p:sp>
        <p:nvSpPr>
          <p:cNvPr id="16" name="Text 11"/>
          <p:cNvSpPr/>
          <p:nvPr/>
        </p:nvSpPr>
        <p:spPr>
          <a:xfrm>
            <a:off x="6309360" y="2286000"/>
            <a:ext cx="2331720" cy="5029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CAD/CAM milling, 300%+ NE markups</a:t>
            </a:r>
            <a:endParaRPr lang="en-US" sz="1000" dirty="0"/>
          </a:p>
        </p:txBody>
      </p:sp>
      <p:sp>
        <p:nvSpPr>
          <p:cNvPr id="17" name="Shape 12"/>
          <p:cNvSpPr/>
          <p:nvPr/>
        </p:nvSpPr>
        <p:spPr>
          <a:xfrm>
            <a:off x="457200" y="3108960"/>
            <a:ext cx="2697480" cy="1645920"/>
          </a:xfrm>
          <a:prstGeom prst="roundRect">
            <a:avLst>
              <a:gd name="adj" fmla="val 4444"/>
            </a:avLst>
          </a:prstGeom>
          <a:solidFill>
            <a:srgbClr val="FFFFFF"/>
          </a:solidFill>
          <a:ln/>
          <a:effectLst>
            <a:outerShdw sx="100000" sy="100000" kx="0" ky="0" algn="bl" rotWithShape="0" blurRad="76200" dist="25400" dir="8100000">
              <a:srgbClr val="000000">
                <a:alpha val="6000"/>
              </a:srgbClr>
            </a:outerShdw>
          </a:effectLst>
        </p:spPr>
      </p:sp>
      <p:pic>
        <p:nvPicPr>
          <p:cNvPr id="18" name="Image 3" descr="preencoded.png">    </p:cNvPr>
          <p:cNvPicPr>
            <a:picLocks noChangeAspect="1"/>
          </p:cNvPicPr>
          <p:nvPr/>
        </p:nvPicPr>
        <p:blipFill>
          <a:blip r:embed="rId4"/>
          <a:stretch>
            <a:fillRect/>
          </a:stretch>
        </p:blipFill>
        <p:spPr>
          <a:xfrm>
            <a:off x="640080" y="3291840"/>
            <a:ext cx="365760" cy="365760"/>
          </a:xfrm>
          <a:prstGeom prst="rect">
            <a:avLst/>
          </a:prstGeom>
        </p:spPr>
      </p:pic>
      <p:sp>
        <p:nvSpPr>
          <p:cNvPr id="19" name="Text 13"/>
          <p:cNvSpPr/>
          <p:nvPr/>
        </p:nvSpPr>
        <p:spPr>
          <a:xfrm>
            <a:off x="640080" y="3749040"/>
            <a:ext cx="2331720" cy="320040"/>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04  Gamified Acquisition</a:t>
            </a:r>
            <a:endParaRPr lang="en-US" sz="1200" dirty="0"/>
          </a:p>
        </p:txBody>
      </p:sp>
      <p:sp>
        <p:nvSpPr>
          <p:cNvPr id="20" name="Text 14"/>
          <p:cNvSpPr/>
          <p:nvPr/>
        </p:nvSpPr>
        <p:spPr>
          <a:xfrm>
            <a:off x="640080" y="4114800"/>
            <a:ext cx="2331720" cy="5029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Self-liquidating UK “Smile &amp; Win” syndicate</a:t>
            </a:r>
            <a:endParaRPr lang="en-US" sz="1000" dirty="0"/>
          </a:p>
        </p:txBody>
      </p:sp>
      <p:sp>
        <p:nvSpPr>
          <p:cNvPr id="21" name="Shape 15"/>
          <p:cNvSpPr/>
          <p:nvPr/>
        </p:nvSpPr>
        <p:spPr>
          <a:xfrm>
            <a:off x="3291840" y="3108960"/>
            <a:ext cx="2697480" cy="1645920"/>
          </a:xfrm>
          <a:prstGeom prst="roundRect">
            <a:avLst>
              <a:gd name="adj" fmla="val 4444"/>
            </a:avLst>
          </a:prstGeom>
          <a:solidFill>
            <a:srgbClr val="FFFFFF"/>
          </a:solidFill>
          <a:ln/>
          <a:effectLst>
            <a:outerShdw sx="100000" sy="100000" kx="0" ky="0" algn="bl" rotWithShape="0" blurRad="76200" dist="25400" dir="8100000">
              <a:srgbClr val="000000">
                <a:alpha val="6000"/>
              </a:srgbClr>
            </a:outerShdw>
          </a:effectLst>
        </p:spPr>
      </p:sp>
      <p:pic>
        <p:nvPicPr>
          <p:cNvPr id="22" name="Image 4" descr="preencoded.png">    </p:cNvPr>
          <p:cNvPicPr>
            <a:picLocks noChangeAspect="1"/>
          </p:cNvPicPr>
          <p:nvPr/>
        </p:nvPicPr>
        <p:blipFill>
          <a:blip r:embed="rId5"/>
          <a:stretch>
            <a:fillRect/>
          </a:stretch>
        </p:blipFill>
        <p:spPr>
          <a:xfrm>
            <a:off x="3474720" y="3291840"/>
            <a:ext cx="365760" cy="365760"/>
          </a:xfrm>
          <a:prstGeom prst="rect">
            <a:avLst/>
          </a:prstGeom>
        </p:spPr>
      </p:pic>
      <p:sp>
        <p:nvSpPr>
          <p:cNvPr id="23" name="Text 16"/>
          <p:cNvSpPr/>
          <p:nvPr/>
        </p:nvSpPr>
        <p:spPr>
          <a:xfrm>
            <a:off x="3474720" y="3749040"/>
            <a:ext cx="2331720" cy="320040"/>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05  EU Pharma</a:t>
            </a:r>
            <a:endParaRPr lang="en-US" sz="1200" dirty="0"/>
          </a:p>
        </p:txBody>
      </p:sp>
      <p:sp>
        <p:nvSpPr>
          <p:cNvPr id="24" name="Text 17"/>
          <p:cNvSpPr/>
          <p:nvPr/>
        </p:nvSpPr>
        <p:spPr>
          <a:xfrm>
            <a:off x="3474720" y="4114800"/>
            <a:ext cx="2331720" cy="5029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White-labeled cosmetics — Brazil, USA, GCC</a:t>
            </a:r>
            <a:endParaRPr lang="en-US" sz="1000" dirty="0"/>
          </a:p>
        </p:txBody>
      </p:sp>
      <p:sp>
        <p:nvSpPr>
          <p:cNvPr id="25" name="Shape 18"/>
          <p:cNvSpPr/>
          <p:nvPr/>
        </p:nvSpPr>
        <p:spPr>
          <a:xfrm>
            <a:off x="6126480" y="3108960"/>
            <a:ext cx="2697480" cy="1645920"/>
          </a:xfrm>
          <a:prstGeom prst="roundRect">
            <a:avLst>
              <a:gd name="adj" fmla="val 4444"/>
            </a:avLst>
          </a:prstGeom>
          <a:solidFill>
            <a:srgbClr val="FFFFFF"/>
          </a:solidFill>
          <a:ln/>
          <a:effectLst>
            <a:outerShdw sx="100000" sy="100000" kx="0" ky="0" algn="bl" rotWithShape="0" blurRad="76200" dist="25400" dir="8100000">
              <a:srgbClr val="000000">
                <a:alpha val="6000"/>
              </a:srgbClr>
            </a:outerShdw>
          </a:effectLst>
        </p:spPr>
      </p:sp>
      <p:pic>
        <p:nvPicPr>
          <p:cNvPr id="26" name="Image 5" descr="preencoded.png">    </p:cNvPr>
          <p:cNvPicPr>
            <a:picLocks noChangeAspect="1"/>
          </p:cNvPicPr>
          <p:nvPr/>
        </p:nvPicPr>
        <p:blipFill>
          <a:blip r:embed="rId6"/>
          <a:stretch>
            <a:fillRect/>
          </a:stretch>
        </p:blipFill>
        <p:spPr>
          <a:xfrm>
            <a:off x="6309360" y="3291840"/>
            <a:ext cx="365760" cy="365760"/>
          </a:xfrm>
          <a:prstGeom prst="rect">
            <a:avLst/>
          </a:prstGeom>
        </p:spPr>
      </p:pic>
      <p:sp>
        <p:nvSpPr>
          <p:cNvPr id="27" name="Text 19"/>
          <p:cNvSpPr/>
          <p:nvPr/>
        </p:nvSpPr>
        <p:spPr>
          <a:xfrm>
            <a:off x="6309360" y="3749040"/>
            <a:ext cx="2331720" cy="320040"/>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06  Agentic AI SaaS</a:t>
            </a:r>
            <a:endParaRPr lang="en-US" sz="1200" dirty="0"/>
          </a:p>
        </p:txBody>
      </p:sp>
      <p:sp>
        <p:nvSpPr>
          <p:cNvPr id="28" name="Text 20"/>
          <p:cNvSpPr/>
          <p:nvPr/>
        </p:nvSpPr>
        <p:spPr>
          <a:xfrm>
            <a:off x="6309360" y="4114800"/>
            <a:ext cx="2331720" cy="5029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Executive AI, licensable to hospital networks</a:t>
            </a:r>
            <a:endParaRPr lang="en-US" sz="1000" dirty="0"/>
          </a:p>
        </p:txBody>
      </p:sp>
      <p:sp>
        <p:nvSpPr>
          <p:cNvPr id="29" name="Text 21"/>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B2C SCALE ENGINE</a:t>
            </a:r>
            <a:endParaRPr lang="en-US" sz="1100" dirty="0"/>
          </a:p>
        </p:txBody>
      </p:sp>
      <p:sp>
        <p:nvSpPr>
          <p:cNvPr id="4" name="Text 2"/>
          <p:cNvSpPr/>
          <p:nvPr/>
        </p:nvSpPr>
        <p:spPr>
          <a:xfrm>
            <a:off x="457200" y="6400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Arial" pitchFamily="34" charset="0"/>
                <a:ea typeface="Arial" pitchFamily="34" charset="-122"/>
                <a:cs typeface="Arial" pitchFamily="34" charset="-120"/>
              </a:rPr>
              <a:t>Medical Triage, Retail Speed</a:t>
            </a:r>
            <a:endParaRPr lang="en-US" sz="2400" dirty="0"/>
          </a:p>
        </p:txBody>
      </p:sp>
      <p:sp>
        <p:nvSpPr>
          <p:cNvPr id="5" name="Shape 3"/>
          <p:cNvSpPr/>
          <p:nvPr/>
        </p:nvSpPr>
        <p:spPr>
          <a:xfrm>
            <a:off x="457200" y="1234440"/>
            <a:ext cx="3200400" cy="2011680"/>
          </a:xfrm>
          <a:prstGeom prst="roundRect">
            <a:avLst>
              <a:gd name="adj" fmla="val 4545"/>
            </a:avLst>
          </a:prstGeom>
          <a:solidFill>
            <a:srgbClr val="0F172A"/>
          </a:solidFill>
          <a:ln/>
        </p:spPr>
      </p:sp>
      <p:sp>
        <p:nvSpPr>
          <p:cNvPr id="6" name="Text 4"/>
          <p:cNvSpPr/>
          <p:nvPr/>
        </p:nvSpPr>
        <p:spPr>
          <a:xfrm>
            <a:off x="457200" y="1371600"/>
            <a:ext cx="3200400" cy="914400"/>
          </a:xfrm>
          <a:prstGeom prst="rect">
            <a:avLst/>
          </a:prstGeom>
          <a:noFill/>
          <a:ln/>
        </p:spPr>
        <p:txBody>
          <a:bodyPr wrap="square" lIns="0" tIns="0" rIns="0" bIns="0" rtlCol="0" anchor="ctr"/>
          <a:lstStyle/>
          <a:p>
            <a:pPr algn="ctr" indent="0" marL="0">
              <a:buNone/>
            </a:pPr>
            <a:r>
              <a:rPr lang="en-US" sz="4800" b="1" dirty="0">
                <a:solidFill>
                  <a:srgbClr val="14B8A6"/>
                </a:solidFill>
                <a:latin typeface="Arial" pitchFamily="34" charset="0"/>
                <a:ea typeface="Arial" pitchFamily="34" charset="-122"/>
                <a:cs typeface="Arial" pitchFamily="34" charset="-120"/>
              </a:rPr>
              <a:t>€179</a:t>
            </a:r>
            <a:endParaRPr lang="en-US" sz="4800" dirty="0"/>
          </a:p>
        </p:txBody>
      </p:sp>
      <p:sp>
        <p:nvSpPr>
          <p:cNvPr id="7" name="Text 5"/>
          <p:cNvSpPr/>
          <p:nvPr/>
        </p:nvSpPr>
        <p:spPr>
          <a:xfrm>
            <a:off x="457200" y="2331720"/>
            <a:ext cx="320040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ENTRY PRICE</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Premium Whitening</a:t>
            </a:r>
            <a:endParaRPr lang="en-US" sz="1400" dirty="0"/>
          </a:p>
        </p:txBody>
      </p:sp>
      <p:sp>
        <p:nvSpPr>
          <p:cNvPr id="8" name="Shape 6"/>
          <p:cNvSpPr/>
          <p:nvPr/>
        </p:nvSpPr>
        <p:spPr>
          <a:xfrm>
            <a:off x="3840480" y="1234440"/>
            <a:ext cx="4846320" cy="914400"/>
          </a:xfrm>
          <a:prstGeom prst="roundRect">
            <a:avLst>
              <a:gd name="adj" fmla="val 8000"/>
            </a:avLst>
          </a:prstGeom>
          <a:solidFill>
            <a:srgbClr val="FFFFFF"/>
          </a:solidFill>
          <a:ln/>
          <a:effectLst>
            <a:outerShdw sx="100000" sy="100000" kx="0" ky="0" algn="bl" rotWithShape="0" blurRad="63500" dist="12700" dir="8100000">
              <a:srgbClr val="000000">
                <a:alpha val="5000"/>
              </a:srgbClr>
            </a:outerShdw>
          </a:effectLst>
        </p:spPr>
      </p:sp>
      <p:sp>
        <p:nvSpPr>
          <p:cNvPr id="9" name="Shape 7"/>
          <p:cNvSpPr/>
          <p:nvPr/>
        </p:nvSpPr>
        <p:spPr>
          <a:xfrm>
            <a:off x="3840480" y="1234440"/>
            <a:ext cx="73152" cy="914400"/>
          </a:xfrm>
          <a:prstGeom prst="rect">
            <a:avLst/>
          </a:prstGeom>
          <a:solidFill>
            <a:srgbClr val="0D9488"/>
          </a:solidFill>
          <a:ln/>
        </p:spPr>
      </p:sp>
      <p:sp>
        <p:nvSpPr>
          <p:cNvPr id="10" name="Text 8"/>
          <p:cNvSpPr/>
          <p:nvPr/>
        </p:nvSpPr>
        <p:spPr>
          <a:xfrm>
            <a:off x="4069080" y="1325880"/>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THE HOOK</a:t>
            </a:r>
            <a:endParaRPr lang="en-US" sz="1300" dirty="0"/>
          </a:p>
        </p:txBody>
      </p:sp>
      <p:sp>
        <p:nvSpPr>
          <p:cNvPr id="11" name="Text 9"/>
          <p:cNvSpPr/>
          <p:nvPr/>
        </p:nvSpPr>
        <p:spPr>
          <a:xfrm>
            <a:off x="4069080" y="1645920"/>
            <a:ext cx="4480560" cy="45720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€179 premium whitening in high-traffic malls drives walk-in volume at near-zero CAC.</a:t>
            </a:r>
            <a:endParaRPr lang="en-US" sz="1100" dirty="0"/>
          </a:p>
        </p:txBody>
      </p:sp>
      <p:sp>
        <p:nvSpPr>
          <p:cNvPr id="12" name="Shape 10"/>
          <p:cNvSpPr/>
          <p:nvPr/>
        </p:nvSpPr>
        <p:spPr>
          <a:xfrm>
            <a:off x="3840480" y="2286000"/>
            <a:ext cx="4846320" cy="914400"/>
          </a:xfrm>
          <a:prstGeom prst="roundRect">
            <a:avLst>
              <a:gd name="adj" fmla="val 8000"/>
            </a:avLst>
          </a:prstGeom>
          <a:solidFill>
            <a:srgbClr val="FFFFFF"/>
          </a:solidFill>
          <a:ln/>
          <a:effectLst>
            <a:outerShdw sx="100000" sy="100000" kx="0" ky="0" algn="bl" rotWithShape="0" blurRad="63500" dist="12700" dir="8100000">
              <a:srgbClr val="000000">
                <a:alpha val="5000"/>
              </a:srgbClr>
            </a:outerShdw>
          </a:effectLst>
        </p:spPr>
      </p:sp>
      <p:sp>
        <p:nvSpPr>
          <p:cNvPr id="13" name="Shape 11"/>
          <p:cNvSpPr/>
          <p:nvPr/>
        </p:nvSpPr>
        <p:spPr>
          <a:xfrm>
            <a:off x="3840480" y="2286000"/>
            <a:ext cx="73152" cy="914400"/>
          </a:xfrm>
          <a:prstGeom prst="rect">
            <a:avLst/>
          </a:prstGeom>
          <a:solidFill>
            <a:srgbClr val="0D9488"/>
          </a:solidFill>
          <a:ln/>
        </p:spPr>
      </p:sp>
      <p:sp>
        <p:nvSpPr>
          <p:cNvPr id="14" name="Text 12"/>
          <p:cNvSpPr/>
          <p:nvPr/>
        </p:nvSpPr>
        <p:spPr>
          <a:xfrm>
            <a:off x="4069080" y="2377440"/>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THE ADVANTAGE</a:t>
            </a:r>
            <a:endParaRPr lang="en-US" sz="1300" dirty="0"/>
          </a:p>
        </p:txBody>
      </p:sp>
      <p:sp>
        <p:nvSpPr>
          <p:cNvPr id="15" name="Text 13"/>
          <p:cNvSpPr/>
          <p:nvPr/>
        </p:nvSpPr>
        <p:spPr>
          <a:xfrm>
            <a:off x="4069080" y="2697480"/>
            <a:ext cx="4480560" cy="45720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EU law requires a dentist on-site — instant trust &amp; compliance moat vs pure retail competitors.</a:t>
            </a:r>
            <a:endParaRPr lang="en-US" sz="1100" dirty="0"/>
          </a:p>
        </p:txBody>
      </p:sp>
      <p:sp>
        <p:nvSpPr>
          <p:cNvPr id="16" name="Shape 14"/>
          <p:cNvSpPr/>
          <p:nvPr/>
        </p:nvSpPr>
        <p:spPr>
          <a:xfrm>
            <a:off x="3840480" y="3337560"/>
            <a:ext cx="4846320" cy="914400"/>
          </a:xfrm>
          <a:prstGeom prst="roundRect">
            <a:avLst>
              <a:gd name="adj" fmla="val 8000"/>
            </a:avLst>
          </a:prstGeom>
          <a:solidFill>
            <a:srgbClr val="FFFFFF"/>
          </a:solidFill>
          <a:ln/>
          <a:effectLst>
            <a:outerShdw sx="100000" sy="100000" kx="0" ky="0" algn="bl" rotWithShape="0" blurRad="63500" dist="12700" dir="8100000">
              <a:srgbClr val="000000">
                <a:alpha val="5000"/>
              </a:srgbClr>
            </a:outerShdw>
          </a:effectLst>
        </p:spPr>
      </p:sp>
      <p:sp>
        <p:nvSpPr>
          <p:cNvPr id="17" name="Shape 15"/>
          <p:cNvSpPr/>
          <p:nvPr/>
        </p:nvSpPr>
        <p:spPr>
          <a:xfrm>
            <a:off x="3840480" y="3337560"/>
            <a:ext cx="73152" cy="914400"/>
          </a:xfrm>
          <a:prstGeom prst="rect">
            <a:avLst/>
          </a:prstGeom>
          <a:solidFill>
            <a:srgbClr val="0D9488"/>
          </a:solidFill>
          <a:ln/>
        </p:spPr>
      </p:sp>
      <p:sp>
        <p:nvSpPr>
          <p:cNvPr id="18" name="Text 16"/>
          <p:cNvSpPr/>
          <p:nvPr/>
        </p:nvSpPr>
        <p:spPr>
          <a:xfrm>
            <a:off x="4069080" y="3429000"/>
            <a:ext cx="4480560" cy="32004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THE UPSELL</a:t>
            </a:r>
            <a:endParaRPr lang="en-US" sz="1300" dirty="0"/>
          </a:p>
        </p:txBody>
      </p:sp>
      <p:sp>
        <p:nvSpPr>
          <p:cNvPr id="19" name="Text 17"/>
          <p:cNvSpPr/>
          <p:nvPr/>
        </p:nvSpPr>
        <p:spPr>
          <a:xfrm>
            <a:off x="4069080" y="3749040"/>
            <a:ext cx="4480560" cy="45720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Live triage converts qualified walk-ins into €10,000+ comprehensive treatment plans.</a:t>
            </a:r>
            <a:endParaRPr lang="en-US" sz="1100" dirty="0"/>
          </a:p>
        </p:txBody>
      </p:sp>
      <p:sp>
        <p:nvSpPr>
          <p:cNvPr id="20" name="Text 18"/>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DIGITAL SCALE ENGINE</a:t>
            </a:r>
            <a:endParaRPr lang="en-US" sz="1100" dirty="0"/>
          </a:p>
        </p:txBody>
      </p:sp>
      <p:sp>
        <p:nvSpPr>
          <p:cNvPr id="4" name="Text 2"/>
          <p:cNvSpPr/>
          <p:nvPr/>
        </p:nvSpPr>
        <p:spPr>
          <a:xfrm>
            <a:off x="457200" y="6400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Arial" pitchFamily="34" charset="0"/>
                <a:ea typeface="Arial" pitchFamily="34" charset="-122"/>
                <a:cs typeface="Arial" pitchFamily="34" charset="-120"/>
              </a:rPr>
              <a:t>Zero Marginal Cost Growth</a:t>
            </a:r>
            <a:endParaRPr lang="en-US" sz="2400" dirty="0"/>
          </a:p>
        </p:txBody>
      </p:sp>
      <p:sp>
        <p:nvSpPr>
          <p:cNvPr id="5" name="Shape 3"/>
          <p:cNvSpPr/>
          <p:nvPr/>
        </p:nvSpPr>
        <p:spPr>
          <a:xfrm>
            <a:off x="457200" y="1280160"/>
            <a:ext cx="4023360" cy="3474720"/>
          </a:xfrm>
          <a:prstGeom prst="roundRect">
            <a:avLst>
              <a:gd name="adj" fmla="val 2632"/>
            </a:avLst>
          </a:prstGeom>
          <a:solidFill>
            <a:srgbClr val="FFFFFF"/>
          </a:solidFill>
          <a:ln/>
          <a:effectLst>
            <a:outerShdw sx="100000" sy="100000" kx="0" ky="0" algn="bl" rotWithShape="0" blurRad="76200" dist="25400" dir="8100000">
              <a:srgbClr val="000000">
                <a:alpha val="6000"/>
              </a:srgbClr>
            </a:outerShdw>
          </a:effectLst>
        </p:spPr>
      </p:sp>
      <p:pic>
        <p:nvPicPr>
          <p:cNvPr id="6" name="Image 0" descr="preencoded.png">    </p:cNvPr>
          <p:cNvPicPr>
            <a:picLocks noChangeAspect="1"/>
          </p:cNvPicPr>
          <p:nvPr/>
        </p:nvPicPr>
        <p:blipFill>
          <a:blip r:embed="rId1"/>
          <a:stretch>
            <a:fillRect/>
          </a:stretch>
        </p:blipFill>
        <p:spPr>
          <a:xfrm>
            <a:off x="640080" y="1463040"/>
            <a:ext cx="411480" cy="411480"/>
          </a:xfrm>
          <a:prstGeom prst="rect">
            <a:avLst/>
          </a:prstGeom>
        </p:spPr>
      </p:pic>
      <p:sp>
        <p:nvSpPr>
          <p:cNvPr id="7" name="Text 4"/>
          <p:cNvSpPr/>
          <p:nvPr/>
        </p:nvSpPr>
        <p:spPr>
          <a:xfrm>
            <a:off x="1143000" y="150876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“Smile &amp; Win” Syndicate</a:t>
            </a:r>
            <a:endParaRPr lang="en-US" sz="1600" dirty="0"/>
          </a:p>
        </p:txBody>
      </p:sp>
      <p:pic>
        <p:nvPicPr>
          <p:cNvPr id="8" name="Image 1" descr="preencoded.png">    </p:cNvPr>
          <p:cNvPicPr>
            <a:picLocks noChangeAspect="1"/>
          </p:cNvPicPr>
          <p:nvPr/>
        </p:nvPicPr>
        <p:blipFill>
          <a:blip r:embed="rId2"/>
          <a:stretch>
            <a:fillRect/>
          </a:stretch>
        </p:blipFill>
        <p:spPr>
          <a:xfrm>
            <a:off x="640080" y="2057400"/>
            <a:ext cx="256032" cy="256032"/>
          </a:xfrm>
          <a:prstGeom prst="rect">
            <a:avLst/>
          </a:prstGeom>
        </p:spPr>
      </p:pic>
      <p:sp>
        <p:nvSpPr>
          <p:cNvPr id="9" name="Text 5"/>
          <p:cNvSpPr/>
          <p:nvPr/>
        </p:nvSpPr>
        <p:spPr>
          <a:xfrm>
            <a:off x="1005840" y="201168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£2.50 tickets fund £15k+ Marbella luxury prizes</a:t>
            </a:r>
            <a:endParaRPr lang="en-US" sz="1100" dirty="0"/>
          </a:p>
        </p:txBody>
      </p:sp>
      <p:pic>
        <p:nvPicPr>
          <p:cNvPr id="10" name="Image 2" descr="preencoded.png">    </p:cNvPr>
          <p:cNvPicPr>
            <a:picLocks noChangeAspect="1"/>
          </p:cNvPicPr>
          <p:nvPr/>
        </p:nvPicPr>
        <p:blipFill>
          <a:blip r:embed="rId3"/>
          <a:stretch>
            <a:fillRect/>
          </a:stretch>
        </p:blipFill>
        <p:spPr>
          <a:xfrm>
            <a:off x="640080" y="2560320"/>
            <a:ext cx="256032" cy="256032"/>
          </a:xfrm>
          <a:prstGeom prst="rect">
            <a:avLst/>
          </a:prstGeom>
        </p:spPr>
      </p:pic>
      <p:sp>
        <p:nvSpPr>
          <p:cNvPr id="11" name="Text 6"/>
          <p:cNvSpPr/>
          <p:nvPr/>
        </p:nvSpPr>
        <p:spPr>
          <a:xfrm>
            <a:off x="1005840" y="251460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Self-liquidating — prizes funded by ticket sales</a:t>
            </a:r>
            <a:endParaRPr lang="en-US" sz="1100" dirty="0"/>
          </a:p>
        </p:txBody>
      </p:sp>
      <p:pic>
        <p:nvPicPr>
          <p:cNvPr id="12" name="Image 3" descr="preencoded.png">    </p:cNvPr>
          <p:cNvPicPr>
            <a:picLocks noChangeAspect="1"/>
          </p:cNvPicPr>
          <p:nvPr/>
        </p:nvPicPr>
        <p:blipFill>
          <a:blip r:embed="rId4"/>
          <a:stretch>
            <a:fillRect/>
          </a:stretch>
        </p:blipFill>
        <p:spPr>
          <a:xfrm>
            <a:off x="640080" y="3063240"/>
            <a:ext cx="256032" cy="256032"/>
          </a:xfrm>
          <a:prstGeom prst="rect">
            <a:avLst/>
          </a:prstGeom>
        </p:spPr>
      </p:pic>
      <p:sp>
        <p:nvSpPr>
          <p:cNvPr id="13" name="Text 7"/>
          <p:cNvSpPr/>
          <p:nvPr/>
        </p:nvSpPr>
        <p:spPr>
          <a:xfrm>
            <a:off x="1005840" y="301752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Builds free, highly qualified CRM database</a:t>
            </a:r>
            <a:endParaRPr lang="en-US" sz="1100" dirty="0"/>
          </a:p>
        </p:txBody>
      </p:sp>
      <p:pic>
        <p:nvPicPr>
          <p:cNvPr id="14" name="Image 4" descr="preencoded.png">    </p:cNvPr>
          <p:cNvPicPr>
            <a:picLocks noChangeAspect="1"/>
          </p:cNvPicPr>
          <p:nvPr/>
        </p:nvPicPr>
        <p:blipFill>
          <a:blip r:embed="rId5"/>
          <a:stretch>
            <a:fillRect/>
          </a:stretch>
        </p:blipFill>
        <p:spPr>
          <a:xfrm>
            <a:off x="640080" y="3566160"/>
            <a:ext cx="256032" cy="256032"/>
          </a:xfrm>
          <a:prstGeom prst="rect">
            <a:avLst/>
          </a:prstGeom>
        </p:spPr>
      </p:pic>
      <p:sp>
        <p:nvSpPr>
          <p:cNvPr id="15" name="Text 8"/>
          <p:cNvSpPr/>
          <p:nvPr/>
        </p:nvSpPr>
        <p:spPr>
          <a:xfrm>
            <a:off x="1005840" y="352044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Non-winners retargeted with concierge offers</a:t>
            </a:r>
            <a:endParaRPr lang="en-US" sz="1100" dirty="0"/>
          </a:p>
        </p:txBody>
      </p:sp>
      <p:pic>
        <p:nvPicPr>
          <p:cNvPr id="16" name="Image 5" descr="preencoded.png">    </p:cNvPr>
          <p:cNvPicPr>
            <a:picLocks noChangeAspect="1"/>
          </p:cNvPicPr>
          <p:nvPr/>
        </p:nvPicPr>
        <p:blipFill>
          <a:blip r:embed="rId6"/>
          <a:stretch>
            <a:fillRect/>
          </a:stretch>
        </p:blipFill>
        <p:spPr>
          <a:xfrm>
            <a:off x="640080" y="4069080"/>
            <a:ext cx="256032" cy="256032"/>
          </a:xfrm>
          <a:prstGeom prst="rect">
            <a:avLst/>
          </a:prstGeom>
        </p:spPr>
      </p:pic>
      <p:sp>
        <p:nvSpPr>
          <p:cNvPr id="17" name="Text 9"/>
          <p:cNvSpPr/>
          <p:nvPr/>
        </p:nvSpPr>
        <p:spPr>
          <a:xfrm>
            <a:off x="1005840" y="402336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High-engagement, low-cost patient acquisition</a:t>
            </a:r>
            <a:endParaRPr lang="en-US" sz="1100" dirty="0"/>
          </a:p>
        </p:txBody>
      </p:sp>
      <p:sp>
        <p:nvSpPr>
          <p:cNvPr id="18" name="Shape 10"/>
          <p:cNvSpPr/>
          <p:nvPr/>
        </p:nvSpPr>
        <p:spPr>
          <a:xfrm>
            <a:off x="4663440" y="1280160"/>
            <a:ext cx="4023360" cy="3474720"/>
          </a:xfrm>
          <a:prstGeom prst="roundRect">
            <a:avLst>
              <a:gd name="adj" fmla="val 2632"/>
            </a:avLst>
          </a:prstGeom>
          <a:solidFill>
            <a:srgbClr val="FFFFFF"/>
          </a:solidFill>
          <a:ln/>
          <a:effectLst>
            <a:outerShdw sx="100000" sy="100000" kx="0" ky="0" algn="bl" rotWithShape="0" blurRad="76200" dist="25400" dir="8100000">
              <a:srgbClr val="000000">
                <a:alpha val="6000"/>
              </a:srgbClr>
            </a:outerShdw>
          </a:effectLst>
        </p:spPr>
      </p:sp>
      <p:pic>
        <p:nvPicPr>
          <p:cNvPr id="19" name="Image 6" descr="preencoded.png">    </p:cNvPr>
          <p:cNvPicPr>
            <a:picLocks noChangeAspect="1"/>
          </p:cNvPicPr>
          <p:nvPr/>
        </p:nvPicPr>
        <p:blipFill>
          <a:blip r:embed="rId7"/>
          <a:stretch>
            <a:fillRect/>
          </a:stretch>
        </p:blipFill>
        <p:spPr>
          <a:xfrm>
            <a:off x="4846320" y="1463040"/>
            <a:ext cx="411480" cy="411480"/>
          </a:xfrm>
          <a:prstGeom prst="rect">
            <a:avLst/>
          </a:prstGeom>
        </p:spPr>
      </p:pic>
      <p:sp>
        <p:nvSpPr>
          <p:cNvPr id="20" name="Text 11"/>
          <p:cNvSpPr/>
          <p:nvPr/>
        </p:nvSpPr>
        <p:spPr>
          <a:xfrm>
            <a:off x="5349240" y="150876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HealthTech SaaS</a:t>
            </a:r>
            <a:endParaRPr lang="en-US" sz="1600" dirty="0"/>
          </a:p>
        </p:txBody>
      </p:sp>
      <p:pic>
        <p:nvPicPr>
          <p:cNvPr id="21" name="Image 7" descr="preencoded.png">    </p:cNvPr>
          <p:cNvPicPr>
            <a:picLocks noChangeAspect="1"/>
          </p:cNvPicPr>
          <p:nvPr/>
        </p:nvPicPr>
        <p:blipFill>
          <a:blip r:embed="rId8"/>
          <a:stretch>
            <a:fillRect/>
          </a:stretch>
        </p:blipFill>
        <p:spPr>
          <a:xfrm>
            <a:off x="4846320" y="2057400"/>
            <a:ext cx="256032" cy="256032"/>
          </a:xfrm>
          <a:prstGeom prst="rect">
            <a:avLst/>
          </a:prstGeom>
        </p:spPr>
      </p:pic>
      <p:sp>
        <p:nvSpPr>
          <p:cNvPr id="22" name="Text 12"/>
          <p:cNvSpPr/>
          <p:nvPr/>
        </p:nvSpPr>
        <p:spPr>
          <a:xfrm>
            <a:off x="5212080" y="201168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Proprietary “Agentic AI C-Suite” platform</a:t>
            </a:r>
            <a:endParaRPr lang="en-US" sz="1100" dirty="0"/>
          </a:p>
        </p:txBody>
      </p:sp>
      <p:pic>
        <p:nvPicPr>
          <p:cNvPr id="23" name="Image 8" descr="preencoded.png">    </p:cNvPr>
          <p:cNvPicPr>
            <a:picLocks noChangeAspect="1"/>
          </p:cNvPicPr>
          <p:nvPr/>
        </p:nvPicPr>
        <p:blipFill>
          <a:blip r:embed="rId9"/>
          <a:stretch>
            <a:fillRect/>
          </a:stretch>
        </p:blipFill>
        <p:spPr>
          <a:xfrm>
            <a:off x="4846320" y="2560320"/>
            <a:ext cx="256032" cy="256032"/>
          </a:xfrm>
          <a:prstGeom prst="rect">
            <a:avLst/>
          </a:prstGeom>
        </p:spPr>
      </p:pic>
      <p:sp>
        <p:nvSpPr>
          <p:cNvPr id="24" name="Text 13"/>
          <p:cNvSpPr/>
          <p:nvPr/>
        </p:nvSpPr>
        <p:spPr>
          <a:xfrm>
            <a:off x="5212080" y="251460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Licensed B2B to hospital networks &amp; clinics</a:t>
            </a:r>
            <a:endParaRPr lang="en-US" sz="1100" dirty="0"/>
          </a:p>
        </p:txBody>
      </p:sp>
      <p:pic>
        <p:nvPicPr>
          <p:cNvPr id="25" name="Image 9" descr="preencoded.png">    </p:cNvPr>
          <p:cNvPicPr>
            <a:picLocks noChangeAspect="1"/>
          </p:cNvPicPr>
          <p:nvPr/>
        </p:nvPicPr>
        <p:blipFill>
          <a:blip r:embed="rId10"/>
          <a:stretch>
            <a:fillRect/>
          </a:stretch>
        </p:blipFill>
        <p:spPr>
          <a:xfrm>
            <a:off x="4846320" y="3063240"/>
            <a:ext cx="256032" cy="256032"/>
          </a:xfrm>
          <a:prstGeom prst="rect">
            <a:avLst/>
          </a:prstGeom>
        </p:spPr>
      </p:pic>
      <p:sp>
        <p:nvSpPr>
          <p:cNvPr id="26" name="Text 14"/>
          <p:cNvSpPr/>
          <p:nvPr/>
        </p:nvSpPr>
        <p:spPr>
          <a:xfrm>
            <a:off x="5212080" y="301752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Unlocks 12–15× software valuation multiples</a:t>
            </a:r>
            <a:endParaRPr lang="en-US" sz="1100" dirty="0"/>
          </a:p>
        </p:txBody>
      </p:sp>
      <p:pic>
        <p:nvPicPr>
          <p:cNvPr id="27" name="Image 10" descr="preencoded.png">    </p:cNvPr>
          <p:cNvPicPr>
            <a:picLocks noChangeAspect="1"/>
          </p:cNvPicPr>
          <p:nvPr/>
        </p:nvPicPr>
        <p:blipFill>
          <a:blip r:embed="rId11"/>
          <a:stretch>
            <a:fillRect/>
          </a:stretch>
        </p:blipFill>
        <p:spPr>
          <a:xfrm>
            <a:off x="4846320" y="3566160"/>
            <a:ext cx="256032" cy="256032"/>
          </a:xfrm>
          <a:prstGeom prst="rect">
            <a:avLst/>
          </a:prstGeom>
        </p:spPr>
      </p:pic>
      <p:sp>
        <p:nvSpPr>
          <p:cNvPr id="28" name="Text 15"/>
          <p:cNvSpPr/>
          <p:nvPr/>
        </p:nvSpPr>
        <p:spPr>
          <a:xfrm>
            <a:off x="5212080" y="352044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Recurring revenue with high gross margins</a:t>
            </a:r>
            <a:endParaRPr lang="en-US" sz="1100" dirty="0"/>
          </a:p>
        </p:txBody>
      </p:sp>
      <p:pic>
        <p:nvPicPr>
          <p:cNvPr id="29" name="Image 11" descr="preencoded.png">    </p:cNvPr>
          <p:cNvPicPr>
            <a:picLocks noChangeAspect="1"/>
          </p:cNvPicPr>
          <p:nvPr/>
        </p:nvPicPr>
        <p:blipFill>
          <a:blip r:embed="rId12"/>
          <a:stretch>
            <a:fillRect/>
          </a:stretch>
        </p:blipFill>
        <p:spPr>
          <a:xfrm>
            <a:off x="4846320" y="4069080"/>
            <a:ext cx="256032" cy="256032"/>
          </a:xfrm>
          <a:prstGeom prst="rect">
            <a:avLst/>
          </a:prstGeom>
        </p:spPr>
      </p:pic>
      <p:sp>
        <p:nvSpPr>
          <p:cNvPr id="30" name="Text 16"/>
          <p:cNvSpPr/>
          <p:nvPr/>
        </p:nvSpPr>
        <p:spPr>
          <a:xfrm>
            <a:off x="5212080" y="4023360"/>
            <a:ext cx="3291840" cy="4572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Scales without proportional headcount</a:t>
            </a:r>
            <a:endParaRPr lang="en-US" sz="1100" dirty="0"/>
          </a:p>
        </p:txBody>
      </p:sp>
      <p:sp>
        <p:nvSpPr>
          <p:cNvPr id="31" name="Text 17"/>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B2B SCALE ENGINE</a:t>
            </a:r>
            <a:endParaRPr lang="en-US" sz="1100" dirty="0"/>
          </a:p>
        </p:txBody>
      </p:sp>
      <p:sp>
        <p:nvSpPr>
          <p:cNvPr id="4" name="Text 2"/>
          <p:cNvSpPr/>
          <p:nvPr/>
        </p:nvSpPr>
        <p:spPr>
          <a:xfrm>
            <a:off x="457200" y="640080"/>
            <a:ext cx="8229600" cy="457200"/>
          </a:xfrm>
          <a:prstGeom prst="rect">
            <a:avLst/>
          </a:prstGeom>
          <a:noFill/>
          <a:ln/>
        </p:spPr>
        <p:txBody>
          <a:bodyPr wrap="square" lIns="0" tIns="0" rIns="0" bIns="0" rtlCol="0" anchor="ctr"/>
          <a:lstStyle/>
          <a:p>
            <a:pPr indent="0" marL="0">
              <a:buNone/>
            </a:pPr>
            <a:r>
              <a:rPr lang="en-US" sz="2200" b="1" dirty="0">
                <a:solidFill>
                  <a:srgbClr val="1E293B"/>
                </a:solidFill>
                <a:latin typeface="Arial" pitchFamily="34" charset="0"/>
                <a:ea typeface="Arial" pitchFamily="34" charset="-122"/>
                <a:cs typeface="Arial" pitchFamily="34" charset="-120"/>
              </a:rPr>
              <a:t>Geographic Arbitrage — Exporting EU Quality</a:t>
            </a:r>
            <a:endParaRPr lang="en-US" sz="2200" dirty="0"/>
          </a:p>
        </p:txBody>
      </p:sp>
      <p:sp>
        <p:nvSpPr>
          <p:cNvPr id="5" name="Shape 3"/>
          <p:cNvSpPr/>
          <p:nvPr/>
        </p:nvSpPr>
        <p:spPr>
          <a:xfrm>
            <a:off x="457200" y="1280160"/>
            <a:ext cx="4023360" cy="2194560"/>
          </a:xfrm>
          <a:prstGeom prst="roundRect">
            <a:avLst>
              <a:gd name="adj" fmla="val 4167"/>
            </a:avLst>
          </a:prstGeom>
          <a:solidFill>
            <a:srgbClr val="FFFFFF"/>
          </a:solidFill>
          <a:ln/>
          <a:effectLst>
            <a:outerShdw sx="100000" sy="100000" kx="0" ky="0" algn="bl" rotWithShape="0" blurRad="76200" dist="25400" dir="8100000">
              <a:srgbClr val="000000">
                <a:alpha val="6000"/>
              </a:srgbClr>
            </a:outerShdw>
          </a:effectLst>
        </p:spPr>
      </p:sp>
      <p:pic>
        <p:nvPicPr>
          <p:cNvPr id="6" name="Image 0" descr="preencoded.png">    </p:cNvPr>
          <p:cNvPicPr>
            <a:picLocks noChangeAspect="1"/>
          </p:cNvPicPr>
          <p:nvPr/>
        </p:nvPicPr>
        <p:blipFill>
          <a:blip r:embed="rId1"/>
          <a:stretch>
            <a:fillRect/>
          </a:stretch>
        </p:blipFill>
        <p:spPr>
          <a:xfrm>
            <a:off x="640080" y="1463040"/>
            <a:ext cx="411480" cy="411480"/>
          </a:xfrm>
          <a:prstGeom prst="rect">
            <a:avLst/>
          </a:prstGeom>
        </p:spPr>
      </p:pic>
      <p:sp>
        <p:nvSpPr>
          <p:cNvPr id="7" name="Text 4"/>
          <p:cNvSpPr/>
          <p:nvPr/>
        </p:nvSpPr>
        <p:spPr>
          <a:xfrm>
            <a:off x="1143000" y="150876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Dental Lab Exports</a:t>
            </a:r>
            <a:endParaRPr lang="en-US" sz="1600" dirty="0"/>
          </a:p>
        </p:txBody>
      </p:sp>
      <p:sp>
        <p:nvSpPr>
          <p:cNvPr id="8" name="Text 5"/>
          <p:cNvSpPr/>
          <p:nvPr/>
        </p:nvSpPr>
        <p:spPr>
          <a:xfrm>
            <a:off x="640080" y="2011680"/>
            <a:ext cx="3657600" cy="365760"/>
          </a:xfrm>
          <a:prstGeom prst="rect">
            <a:avLst/>
          </a:prstGeom>
          <a:noFill/>
          <a:ln/>
        </p:spPr>
        <p:txBody>
          <a:bodyPr wrap="square" lIns="0" tIns="0" rIns="0" bIns="0" rtlCol="0" anchor="ctr"/>
          <a:lstStyle/>
          <a:p>
            <a:pPr indent="0" marL="0">
              <a:buNone/>
            </a:pPr>
            <a:r>
              <a:rPr lang="en-US" sz="1300" b="1" dirty="0">
                <a:solidFill>
                  <a:srgbClr val="0D9488"/>
                </a:solidFill>
                <a:latin typeface="Arial" pitchFamily="34" charset="0"/>
                <a:ea typeface="Arial" pitchFamily="34" charset="-122"/>
                <a:cs typeface="Arial" pitchFamily="34" charset="-120"/>
              </a:rPr>
              <a:t>€30 in-house milling  →  €150–200 wholesale</a:t>
            </a:r>
            <a:endParaRPr lang="en-US" sz="1300" dirty="0"/>
          </a:p>
        </p:txBody>
      </p:sp>
      <p:sp>
        <p:nvSpPr>
          <p:cNvPr id="9" name="Text 6"/>
          <p:cNvSpPr/>
          <p:nvPr/>
        </p:nvSpPr>
        <p:spPr>
          <a:xfrm>
            <a:off x="640080" y="2423160"/>
            <a:ext cx="3657600" cy="91440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Milling crowns in-house at flagship, wholesaling to Germany, Sweden, Denmark and other high-price markets. 300%+ margins with minimal additional CapEx.</a:t>
            </a:r>
            <a:endParaRPr lang="en-US" sz="1100" dirty="0"/>
          </a:p>
        </p:txBody>
      </p:sp>
      <p:sp>
        <p:nvSpPr>
          <p:cNvPr id="10" name="Shape 7"/>
          <p:cNvSpPr/>
          <p:nvPr/>
        </p:nvSpPr>
        <p:spPr>
          <a:xfrm>
            <a:off x="4663440" y="1280160"/>
            <a:ext cx="4023360" cy="2194560"/>
          </a:xfrm>
          <a:prstGeom prst="roundRect">
            <a:avLst>
              <a:gd name="adj" fmla="val 4167"/>
            </a:avLst>
          </a:prstGeom>
          <a:solidFill>
            <a:srgbClr val="FFFFFF"/>
          </a:solidFill>
          <a:ln/>
          <a:effectLst>
            <a:outerShdw sx="100000" sy="100000" kx="0" ky="0" algn="bl" rotWithShape="0" blurRad="76200" dist="25400" dir="8100000">
              <a:srgbClr val="000000">
                <a:alpha val="6000"/>
              </a:srgbClr>
            </a:outerShdw>
          </a:effectLst>
        </p:spPr>
      </p:sp>
      <p:pic>
        <p:nvPicPr>
          <p:cNvPr id="11" name="Image 1" descr="preencoded.png">    </p:cNvPr>
          <p:cNvPicPr>
            <a:picLocks noChangeAspect="1"/>
          </p:cNvPicPr>
          <p:nvPr/>
        </p:nvPicPr>
        <p:blipFill>
          <a:blip r:embed="rId2"/>
          <a:stretch>
            <a:fillRect/>
          </a:stretch>
        </p:blipFill>
        <p:spPr>
          <a:xfrm>
            <a:off x="4846320" y="1463040"/>
            <a:ext cx="411480" cy="411480"/>
          </a:xfrm>
          <a:prstGeom prst="rect">
            <a:avLst/>
          </a:prstGeom>
        </p:spPr>
      </p:pic>
      <p:sp>
        <p:nvSpPr>
          <p:cNvPr id="12" name="Text 8"/>
          <p:cNvSpPr/>
          <p:nvPr/>
        </p:nvSpPr>
        <p:spPr>
          <a:xfrm>
            <a:off x="5349240" y="1508760"/>
            <a:ext cx="320040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Pharma &amp; Peptides</a:t>
            </a:r>
            <a:endParaRPr lang="en-US" sz="1600" dirty="0"/>
          </a:p>
        </p:txBody>
      </p:sp>
      <p:sp>
        <p:nvSpPr>
          <p:cNvPr id="13" name="Text 9"/>
          <p:cNvSpPr/>
          <p:nvPr/>
        </p:nvSpPr>
        <p:spPr>
          <a:xfrm>
            <a:off x="4846320" y="2011680"/>
            <a:ext cx="3657600" cy="365760"/>
          </a:xfrm>
          <a:prstGeom prst="rect">
            <a:avLst/>
          </a:prstGeom>
          <a:noFill/>
          <a:ln/>
        </p:spPr>
        <p:txBody>
          <a:bodyPr wrap="square" lIns="0" tIns="0" rIns="0" bIns="0" rtlCol="0" anchor="ctr"/>
          <a:lstStyle/>
          <a:p>
            <a:pPr indent="0" marL="0">
              <a:buNone/>
            </a:pPr>
            <a:r>
              <a:rPr lang="en-US" sz="1200" b="1" dirty="0">
                <a:solidFill>
                  <a:srgbClr val="0D9488"/>
                </a:solidFill>
                <a:latin typeface="Arial" pitchFamily="34" charset="0"/>
                <a:ea typeface="Arial" pitchFamily="34" charset="-122"/>
                <a:cs typeface="Arial" pitchFamily="34" charset="-120"/>
              </a:rPr>
              <a:t>GMP-certified Spanish labs • White-label “Made in EU”</a:t>
            </a:r>
            <a:endParaRPr lang="en-US" sz="1200" dirty="0"/>
          </a:p>
        </p:txBody>
      </p:sp>
      <p:sp>
        <p:nvSpPr>
          <p:cNvPr id="14" name="Text 10"/>
          <p:cNvSpPr/>
          <p:nvPr/>
        </p:nvSpPr>
        <p:spPr>
          <a:xfrm>
            <a:off x="4846320" y="2423160"/>
            <a:ext cx="3657600" cy="91440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Export premium cosmetics &amp; peptide products to Brazil, USA, and GCC markets. No chemical-plant CapEx required — leverage existing certified capacity.</a:t>
            </a:r>
            <a:endParaRPr lang="en-US" sz="1100" dirty="0"/>
          </a:p>
        </p:txBody>
      </p:sp>
      <p:sp>
        <p:nvSpPr>
          <p:cNvPr id="15" name="Shape 11"/>
          <p:cNvSpPr/>
          <p:nvPr/>
        </p:nvSpPr>
        <p:spPr>
          <a:xfrm>
            <a:off x="457200" y="3657600"/>
            <a:ext cx="8229600" cy="1097280"/>
          </a:xfrm>
          <a:prstGeom prst="roundRect">
            <a:avLst>
              <a:gd name="adj" fmla="val 8333"/>
            </a:avLst>
          </a:prstGeom>
          <a:solidFill>
            <a:srgbClr val="0F172A"/>
          </a:solidFill>
          <a:ln/>
        </p:spPr>
      </p:sp>
      <p:sp>
        <p:nvSpPr>
          <p:cNvPr id="16" name="Text 12"/>
          <p:cNvSpPr/>
          <p:nvPr/>
        </p:nvSpPr>
        <p:spPr>
          <a:xfrm>
            <a:off x="640080" y="3794760"/>
            <a:ext cx="7863840" cy="274320"/>
          </a:xfrm>
          <a:prstGeom prst="rect">
            <a:avLst/>
          </a:prstGeom>
          <a:noFill/>
          <a:ln/>
        </p:spPr>
        <p:txBody>
          <a:bodyPr wrap="square" lIns="0" tIns="0" rIns="0" bIns="0" rtlCol="0" anchor="ctr"/>
          <a:lstStyle/>
          <a:p>
            <a:pPr indent="0" marL="0">
              <a:buNone/>
            </a:pPr>
            <a:r>
              <a:rPr lang="en-US" sz="1100" b="1" dirty="0">
                <a:solidFill>
                  <a:srgbClr val="14B8A6"/>
                </a:solidFill>
                <a:latin typeface="Arial" pitchFamily="34" charset="0"/>
                <a:ea typeface="Arial" pitchFamily="34" charset="-122"/>
                <a:cs typeface="Arial" pitchFamily="34" charset="-120"/>
              </a:rPr>
              <a:t>KEY EXPORT MARKETS</a:t>
            </a:r>
            <a:endParaRPr lang="en-US" sz="1100" dirty="0"/>
          </a:p>
        </p:txBody>
      </p:sp>
      <p:sp>
        <p:nvSpPr>
          <p:cNvPr id="17" name="Text 13"/>
          <p:cNvSpPr/>
          <p:nvPr/>
        </p:nvSpPr>
        <p:spPr>
          <a:xfrm>
            <a:off x="640080" y="4114800"/>
            <a:ext cx="786384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BRAZIL   •   USA   •   GCC (UAE, Saudi Arabia, Qatar)   •   Northern Europe</a:t>
            </a:r>
            <a:endParaRPr lang="en-US" sz="1600" dirty="0"/>
          </a:p>
        </p:txBody>
      </p:sp>
      <p:sp>
        <p:nvSpPr>
          <p:cNvPr id="18" name="Text 14"/>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AUDIT-READY ARCHITECTURE</a:t>
            </a:r>
            <a:endParaRPr lang="en-US" sz="1100" dirty="0"/>
          </a:p>
        </p:txBody>
      </p:sp>
      <p:sp>
        <p:nvSpPr>
          <p:cNvPr id="4" name="Text 2"/>
          <p:cNvSpPr/>
          <p:nvPr/>
        </p:nvSpPr>
        <p:spPr>
          <a:xfrm>
            <a:off x="457200" y="640080"/>
            <a:ext cx="8229600" cy="457200"/>
          </a:xfrm>
          <a:prstGeom prst="rect">
            <a:avLst/>
          </a:prstGeom>
          <a:noFill/>
          <a:ln/>
        </p:spPr>
        <p:txBody>
          <a:bodyPr wrap="square" lIns="0" tIns="0" rIns="0" bIns="0" rtlCol="0" anchor="ctr"/>
          <a:lstStyle/>
          <a:p>
            <a:pPr indent="0" marL="0">
              <a:buNone/>
            </a:pPr>
            <a:r>
              <a:rPr lang="en-US" sz="2200" b="1" dirty="0">
                <a:solidFill>
                  <a:srgbClr val="1E293B"/>
                </a:solidFill>
                <a:latin typeface="Arial" pitchFamily="34" charset="0"/>
                <a:ea typeface="Arial" pitchFamily="34" charset="-122"/>
                <a:cs typeface="Arial" pitchFamily="34" charset="-120"/>
              </a:rPr>
              <a:t>Risk, Ring-Fenced. Built for Investors &amp; Regulators.</a:t>
            </a:r>
            <a:endParaRPr lang="en-US" sz="2200" dirty="0"/>
          </a:p>
        </p:txBody>
      </p:sp>
      <p:sp>
        <p:nvSpPr>
          <p:cNvPr id="5" name="Shape 3"/>
          <p:cNvSpPr/>
          <p:nvPr/>
        </p:nvSpPr>
        <p:spPr>
          <a:xfrm>
            <a:off x="457200" y="1280160"/>
            <a:ext cx="8229600" cy="777240"/>
          </a:xfrm>
          <a:prstGeom prst="roundRect">
            <a:avLst>
              <a:gd name="adj" fmla="val 9412"/>
            </a:avLst>
          </a:prstGeom>
          <a:solidFill>
            <a:srgbClr val="FFFFFF"/>
          </a:solidFill>
          <a:ln/>
          <a:effectLst>
            <a:outerShdw sx="100000" sy="100000" kx="0" ky="0" algn="bl" rotWithShape="0" blurRad="63500" dist="12700" dir="8100000">
              <a:srgbClr val="000000">
                <a:alpha val="5000"/>
              </a:srgbClr>
            </a:outerShdw>
          </a:effectLst>
        </p:spPr>
      </p:sp>
      <p:sp>
        <p:nvSpPr>
          <p:cNvPr id="6" name="Shape 4"/>
          <p:cNvSpPr/>
          <p:nvPr/>
        </p:nvSpPr>
        <p:spPr>
          <a:xfrm>
            <a:off x="457200" y="1280160"/>
            <a:ext cx="73152" cy="777240"/>
          </a:xfrm>
          <a:prstGeom prst="rect">
            <a:avLst/>
          </a:prstGeom>
          <a:solidFill>
            <a:srgbClr val="0D9488"/>
          </a:solidFill>
          <a:ln/>
        </p:spPr>
      </p:sp>
      <p:sp>
        <p:nvSpPr>
          <p:cNvPr id="7" name="Text 5"/>
          <p:cNvSpPr/>
          <p:nvPr/>
        </p:nvSpPr>
        <p:spPr>
          <a:xfrm>
            <a:off x="685800" y="1371600"/>
            <a:ext cx="7772400" cy="32004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CityClinic HoldCo</a:t>
            </a:r>
            <a:endParaRPr lang="en-US" sz="1400" dirty="0"/>
          </a:p>
        </p:txBody>
      </p:sp>
      <p:sp>
        <p:nvSpPr>
          <p:cNvPr id="8" name="Text 6"/>
          <p:cNvSpPr/>
          <p:nvPr/>
        </p:nvSpPr>
        <p:spPr>
          <a:xfrm>
            <a:off x="685800" y="1691640"/>
            <a:ext cx="7772400" cy="32004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Fully shielded parent. Owns IP and licenses OpCos.</a:t>
            </a:r>
            <a:endParaRPr lang="en-US" sz="1200" dirty="0"/>
          </a:p>
        </p:txBody>
      </p:sp>
      <p:sp>
        <p:nvSpPr>
          <p:cNvPr id="9" name="Shape 7"/>
          <p:cNvSpPr/>
          <p:nvPr/>
        </p:nvSpPr>
        <p:spPr>
          <a:xfrm>
            <a:off x="457200" y="2148840"/>
            <a:ext cx="8229600" cy="777240"/>
          </a:xfrm>
          <a:prstGeom prst="roundRect">
            <a:avLst>
              <a:gd name="adj" fmla="val 9412"/>
            </a:avLst>
          </a:prstGeom>
          <a:solidFill>
            <a:srgbClr val="FFFFFF"/>
          </a:solidFill>
          <a:ln/>
          <a:effectLst>
            <a:outerShdw sx="100000" sy="100000" kx="0" ky="0" algn="bl" rotWithShape="0" blurRad="63500" dist="12700" dir="8100000">
              <a:srgbClr val="000000">
                <a:alpha val="5000"/>
              </a:srgbClr>
            </a:outerShdw>
          </a:effectLst>
        </p:spPr>
      </p:sp>
      <p:sp>
        <p:nvSpPr>
          <p:cNvPr id="10" name="Shape 8"/>
          <p:cNvSpPr/>
          <p:nvPr/>
        </p:nvSpPr>
        <p:spPr>
          <a:xfrm>
            <a:off x="457200" y="2148840"/>
            <a:ext cx="73152" cy="777240"/>
          </a:xfrm>
          <a:prstGeom prst="rect">
            <a:avLst/>
          </a:prstGeom>
          <a:solidFill>
            <a:srgbClr val="0D9488"/>
          </a:solidFill>
          <a:ln/>
        </p:spPr>
      </p:sp>
      <p:sp>
        <p:nvSpPr>
          <p:cNvPr id="11" name="Text 9"/>
          <p:cNvSpPr/>
          <p:nvPr/>
        </p:nvSpPr>
        <p:spPr>
          <a:xfrm>
            <a:off x="685800" y="2240280"/>
            <a:ext cx="7772400" cy="32004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Independent UK SPV</a:t>
            </a:r>
            <a:endParaRPr lang="en-US" sz="1400" dirty="0"/>
          </a:p>
        </p:txBody>
      </p:sp>
      <p:sp>
        <p:nvSpPr>
          <p:cNvPr id="12" name="Text 10"/>
          <p:cNvSpPr/>
          <p:nvPr/>
        </p:nvSpPr>
        <p:spPr>
          <a:xfrm>
            <a:off x="685800" y="2560320"/>
            <a:ext cx="7772400" cy="32004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 “Smile &amp; Win” syndicate runs through 3rd-party SPV — ring-fenced from clinical risk.</a:t>
            </a:r>
            <a:endParaRPr lang="en-US" sz="1200" dirty="0"/>
          </a:p>
        </p:txBody>
      </p:sp>
      <p:sp>
        <p:nvSpPr>
          <p:cNvPr id="13" name="Shape 11"/>
          <p:cNvSpPr/>
          <p:nvPr/>
        </p:nvSpPr>
        <p:spPr>
          <a:xfrm>
            <a:off x="457200" y="3017520"/>
            <a:ext cx="8229600" cy="777240"/>
          </a:xfrm>
          <a:prstGeom prst="roundRect">
            <a:avLst>
              <a:gd name="adj" fmla="val 9412"/>
            </a:avLst>
          </a:prstGeom>
          <a:solidFill>
            <a:srgbClr val="FFFFFF"/>
          </a:solidFill>
          <a:ln/>
          <a:effectLst>
            <a:outerShdw sx="100000" sy="100000" kx="0" ky="0" algn="bl" rotWithShape="0" blurRad="63500" dist="12700" dir="8100000">
              <a:srgbClr val="000000">
                <a:alpha val="5000"/>
              </a:srgbClr>
            </a:outerShdw>
          </a:effectLst>
        </p:spPr>
      </p:sp>
      <p:sp>
        <p:nvSpPr>
          <p:cNvPr id="14" name="Shape 12"/>
          <p:cNvSpPr/>
          <p:nvPr/>
        </p:nvSpPr>
        <p:spPr>
          <a:xfrm>
            <a:off x="457200" y="3017520"/>
            <a:ext cx="73152" cy="777240"/>
          </a:xfrm>
          <a:prstGeom prst="rect">
            <a:avLst/>
          </a:prstGeom>
          <a:solidFill>
            <a:srgbClr val="0D9488"/>
          </a:solidFill>
          <a:ln/>
        </p:spPr>
      </p:sp>
      <p:sp>
        <p:nvSpPr>
          <p:cNvPr id="15" name="Text 13"/>
          <p:cNvSpPr/>
          <p:nvPr/>
        </p:nvSpPr>
        <p:spPr>
          <a:xfrm>
            <a:off x="685800" y="3108960"/>
            <a:ext cx="7772400" cy="32004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Ring-Fenced OpCos</a:t>
            </a:r>
            <a:endParaRPr lang="en-US" sz="1400" dirty="0"/>
          </a:p>
        </p:txBody>
      </p:sp>
      <p:sp>
        <p:nvSpPr>
          <p:cNvPr id="16" name="Text 14"/>
          <p:cNvSpPr/>
          <p:nvPr/>
        </p:nvSpPr>
        <p:spPr>
          <a:xfrm>
            <a:off x="685800" y="3429000"/>
            <a:ext cx="7772400" cy="32004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Clinical, Retail, Manufacturing, and AI Division operate as distinct legal entities.</a:t>
            </a:r>
            <a:endParaRPr lang="en-US" sz="1200" dirty="0"/>
          </a:p>
        </p:txBody>
      </p:sp>
      <p:sp>
        <p:nvSpPr>
          <p:cNvPr id="17" name="Shape 15"/>
          <p:cNvSpPr/>
          <p:nvPr/>
        </p:nvSpPr>
        <p:spPr>
          <a:xfrm>
            <a:off x="457200" y="3886200"/>
            <a:ext cx="8229600" cy="777240"/>
          </a:xfrm>
          <a:prstGeom prst="roundRect">
            <a:avLst>
              <a:gd name="adj" fmla="val 9412"/>
            </a:avLst>
          </a:prstGeom>
          <a:solidFill>
            <a:srgbClr val="FFFFFF"/>
          </a:solidFill>
          <a:ln/>
          <a:effectLst>
            <a:outerShdw sx="100000" sy="100000" kx="0" ky="0" algn="bl" rotWithShape="0" blurRad="63500" dist="12700" dir="8100000">
              <a:srgbClr val="000000">
                <a:alpha val="5000"/>
              </a:srgbClr>
            </a:outerShdw>
          </a:effectLst>
        </p:spPr>
      </p:sp>
      <p:sp>
        <p:nvSpPr>
          <p:cNvPr id="18" name="Shape 16"/>
          <p:cNvSpPr/>
          <p:nvPr/>
        </p:nvSpPr>
        <p:spPr>
          <a:xfrm>
            <a:off x="457200" y="3886200"/>
            <a:ext cx="73152" cy="777240"/>
          </a:xfrm>
          <a:prstGeom prst="rect">
            <a:avLst/>
          </a:prstGeom>
          <a:solidFill>
            <a:srgbClr val="0D9488"/>
          </a:solidFill>
          <a:ln/>
        </p:spPr>
      </p:sp>
      <p:sp>
        <p:nvSpPr>
          <p:cNvPr id="19" name="Text 17"/>
          <p:cNvSpPr/>
          <p:nvPr/>
        </p:nvSpPr>
        <p:spPr>
          <a:xfrm>
            <a:off x="685800" y="3977640"/>
            <a:ext cx="7772400" cy="32004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100% Lead Flow Back</a:t>
            </a:r>
            <a:endParaRPr lang="en-US" sz="1400" dirty="0"/>
          </a:p>
        </p:txBody>
      </p:sp>
      <p:sp>
        <p:nvSpPr>
          <p:cNvPr id="20" name="Text 18"/>
          <p:cNvSpPr/>
          <p:nvPr/>
        </p:nvSpPr>
        <p:spPr>
          <a:xfrm>
            <a:off x="685800" y="4297680"/>
            <a:ext cx="7772400" cy="32004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All acquisition channels (syndicate, kiosks, etc.) feed patients back to CityClinic via license.</a:t>
            </a:r>
            <a:endParaRPr lang="en-US" sz="1200" dirty="0"/>
          </a:p>
        </p:txBody>
      </p:sp>
      <p:sp>
        <p:nvSpPr>
          <p:cNvPr id="21" name="Text 19"/>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TRACTION &amp; BASELINE</a:t>
            </a:r>
            <a:endParaRPr lang="en-US" sz="1100" dirty="0"/>
          </a:p>
        </p:txBody>
      </p:sp>
      <p:sp>
        <p:nvSpPr>
          <p:cNvPr id="4" name="Text 2"/>
          <p:cNvSpPr/>
          <p:nvPr/>
        </p:nvSpPr>
        <p:spPr>
          <a:xfrm>
            <a:off x="457200" y="640080"/>
            <a:ext cx="8229600" cy="457200"/>
          </a:xfrm>
          <a:prstGeom prst="rect">
            <a:avLst/>
          </a:prstGeom>
          <a:noFill/>
          <a:ln/>
        </p:spPr>
        <p:txBody>
          <a:bodyPr wrap="square" lIns="0" tIns="0" rIns="0" bIns="0" rtlCol="0" anchor="ctr"/>
          <a:lstStyle/>
          <a:p>
            <a:pPr indent="0" marL="0">
              <a:buNone/>
            </a:pPr>
            <a:r>
              <a:rPr lang="en-US" sz="2200" b="1" dirty="0">
                <a:solidFill>
                  <a:srgbClr val="1E293B"/>
                </a:solidFill>
                <a:latin typeface="Arial" pitchFamily="34" charset="0"/>
                <a:ea typeface="Arial" pitchFamily="34" charset="-122"/>
                <a:cs typeface="Arial" pitchFamily="34" charset="-120"/>
              </a:rPr>
              <a:t>Proven Economics from Our Marbella Flagship</a:t>
            </a:r>
            <a:endParaRPr lang="en-US" sz="2200" dirty="0"/>
          </a:p>
        </p:txBody>
      </p:sp>
      <p:sp>
        <p:nvSpPr>
          <p:cNvPr id="5" name="Shape 3"/>
          <p:cNvSpPr/>
          <p:nvPr/>
        </p:nvSpPr>
        <p:spPr>
          <a:xfrm>
            <a:off x="457200" y="1280160"/>
            <a:ext cx="4023360" cy="1188720"/>
          </a:xfrm>
          <a:prstGeom prst="roundRect">
            <a:avLst>
              <a:gd name="adj" fmla="val 7692"/>
            </a:avLst>
          </a:prstGeom>
          <a:solidFill>
            <a:srgbClr val="FFFFFF"/>
          </a:solidFill>
          <a:ln/>
          <a:effectLst>
            <a:outerShdw sx="100000" sy="100000" kx="0" ky="0" algn="bl" rotWithShape="0" blurRad="76200" dist="25400" dir="8100000">
              <a:srgbClr val="000000">
                <a:alpha val="6000"/>
              </a:srgbClr>
            </a:outerShdw>
          </a:effectLst>
        </p:spPr>
      </p:sp>
      <p:sp>
        <p:nvSpPr>
          <p:cNvPr id="6" name="Text 4"/>
          <p:cNvSpPr/>
          <p:nvPr/>
        </p:nvSpPr>
        <p:spPr>
          <a:xfrm>
            <a:off x="731520" y="1463040"/>
            <a:ext cx="3474720" cy="548640"/>
          </a:xfrm>
          <a:prstGeom prst="rect">
            <a:avLst/>
          </a:prstGeom>
          <a:noFill/>
          <a:ln/>
        </p:spPr>
        <p:txBody>
          <a:bodyPr wrap="square" lIns="0" tIns="0" rIns="0" bIns="0" rtlCol="0" anchor="ctr"/>
          <a:lstStyle/>
          <a:p>
            <a:pPr indent="0" marL="0">
              <a:buNone/>
            </a:pPr>
            <a:r>
              <a:rPr lang="en-US" sz="2600" b="1" dirty="0">
                <a:solidFill>
                  <a:srgbClr val="0D9488"/>
                </a:solidFill>
                <a:latin typeface="Arial" pitchFamily="34" charset="0"/>
                <a:ea typeface="Arial" pitchFamily="34" charset="-122"/>
                <a:cs typeface="Arial" pitchFamily="34" charset="-120"/>
              </a:rPr>
              <a:t>€2.5M</a:t>
            </a:r>
            <a:endParaRPr lang="en-US" sz="2600" dirty="0"/>
          </a:p>
        </p:txBody>
      </p:sp>
      <p:sp>
        <p:nvSpPr>
          <p:cNvPr id="7" name="Text 5"/>
          <p:cNvSpPr/>
          <p:nvPr/>
        </p:nvSpPr>
        <p:spPr>
          <a:xfrm>
            <a:off x="731520" y="2011680"/>
            <a:ext cx="3474720" cy="36576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Current Annual Revenue (Marbella Flagship)</a:t>
            </a:r>
            <a:endParaRPr lang="en-US" sz="1200" dirty="0"/>
          </a:p>
        </p:txBody>
      </p:sp>
      <p:sp>
        <p:nvSpPr>
          <p:cNvPr id="8" name="Shape 6"/>
          <p:cNvSpPr/>
          <p:nvPr/>
        </p:nvSpPr>
        <p:spPr>
          <a:xfrm>
            <a:off x="4754880" y="1280160"/>
            <a:ext cx="4023360" cy="1188720"/>
          </a:xfrm>
          <a:prstGeom prst="roundRect">
            <a:avLst>
              <a:gd name="adj" fmla="val 7692"/>
            </a:avLst>
          </a:prstGeom>
          <a:solidFill>
            <a:srgbClr val="FFFFFF"/>
          </a:solidFill>
          <a:ln/>
          <a:effectLst>
            <a:outerShdw sx="100000" sy="100000" kx="0" ky="0" algn="bl" rotWithShape="0" blurRad="76200" dist="25400" dir="8100000">
              <a:srgbClr val="000000">
                <a:alpha val="6000"/>
              </a:srgbClr>
            </a:outerShdw>
          </a:effectLst>
        </p:spPr>
      </p:sp>
      <p:sp>
        <p:nvSpPr>
          <p:cNvPr id="9" name="Text 7"/>
          <p:cNvSpPr/>
          <p:nvPr/>
        </p:nvSpPr>
        <p:spPr>
          <a:xfrm>
            <a:off x="5029200" y="1463040"/>
            <a:ext cx="3474720" cy="548640"/>
          </a:xfrm>
          <a:prstGeom prst="rect">
            <a:avLst/>
          </a:prstGeom>
          <a:noFill/>
          <a:ln/>
        </p:spPr>
        <p:txBody>
          <a:bodyPr wrap="square" lIns="0" tIns="0" rIns="0" bIns="0" rtlCol="0" anchor="ctr"/>
          <a:lstStyle/>
          <a:p>
            <a:pPr indent="0" marL="0">
              <a:buNone/>
            </a:pPr>
            <a:r>
              <a:rPr lang="en-US" sz="2600" b="1" dirty="0">
                <a:solidFill>
                  <a:srgbClr val="0D9488"/>
                </a:solidFill>
                <a:latin typeface="Arial" pitchFamily="34" charset="0"/>
                <a:ea typeface="Arial" pitchFamily="34" charset="-122"/>
                <a:cs typeface="Arial" pitchFamily="34" charset="-120"/>
              </a:rPr>
              <a:t>Profitable</a:t>
            </a:r>
            <a:endParaRPr lang="en-US" sz="2600" dirty="0"/>
          </a:p>
        </p:txBody>
      </p:sp>
      <p:sp>
        <p:nvSpPr>
          <p:cNvPr id="10" name="Text 8"/>
          <p:cNvSpPr/>
          <p:nvPr/>
        </p:nvSpPr>
        <p:spPr>
          <a:xfrm>
            <a:off x="5029200" y="2011680"/>
            <a:ext cx="3474720" cy="36576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De-risked, Cash-Flow Positive Operation</a:t>
            </a:r>
            <a:endParaRPr lang="en-US" sz="1200" dirty="0"/>
          </a:p>
        </p:txBody>
      </p:sp>
      <p:sp>
        <p:nvSpPr>
          <p:cNvPr id="11" name="Shape 9"/>
          <p:cNvSpPr/>
          <p:nvPr/>
        </p:nvSpPr>
        <p:spPr>
          <a:xfrm>
            <a:off x="457200" y="2651760"/>
            <a:ext cx="4023360" cy="1188720"/>
          </a:xfrm>
          <a:prstGeom prst="roundRect">
            <a:avLst>
              <a:gd name="adj" fmla="val 7692"/>
            </a:avLst>
          </a:prstGeom>
          <a:solidFill>
            <a:srgbClr val="FFFFFF"/>
          </a:solidFill>
          <a:ln/>
          <a:effectLst>
            <a:outerShdw sx="100000" sy="100000" kx="0" ky="0" algn="bl" rotWithShape="0" blurRad="76200" dist="25400" dir="8100000">
              <a:srgbClr val="000000">
                <a:alpha val="6000"/>
              </a:srgbClr>
            </a:outerShdw>
          </a:effectLst>
        </p:spPr>
      </p:sp>
      <p:sp>
        <p:nvSpPr>
          <p:cNvPr id="12" name="Text 10"/>
          <p:cNvSpPr/>
          <p:nvPr/>
        </p:nvSpPr>
        <p:spPr>
          <a:xfrm>
            <a:off x="731520" y="2834640"/>
            <a:ext cx="3474720" cy="548640"/>
          </a:xfrm>
          <a:prstGeom prst="rect">
            <a:avLst/>
          </a:prstGeom>
          <a:noFill/>
          <a:ln/>
        </p:spPr>
        <p:txBody>
          <a:bodyPr wrap="square" lIns="0" tIns="0" rIns="0" bIns="0" rtlCol="0" anchor="ctr"/>
          <a:lstStyle/>
          <a:p>
            <a:pPr indent="0" marL="0">
              <a:buNone/>
            </a:pPr>
            <a:r>
              <a:rPr lang="en-US" sz="2600" b="1" dirty="0">
                <a:solidFill>
                  <a:srgbClr val="0D9488"/>
                </a:solidFill>
                <a:latin typeface="Arial" pitchFamily="34" charset="0"/>
                <a:ea typeface="Arial" pitchFamily="34" charset="-122"/>
                <a:cs typeface="Arial" pitchFamily="34" charset="-120"/>
              </a:rPr>
              <a:t>High</a:t>
            </a:r>
            <a:endParaRPr lang="en-US" sz="2600" dirty="0"/>
          </a:p>
        </p:txBody>
      </p:sp>
      <p:sp>
        <p:nvSpPr>
          <p:cNvPr id="13" name="Text 11"/>
          <p:cNvSpPr/>
          <p:nvPr/>
        </p:nvSpPr>
        <p:spPr>
          <a:xfrm>
            <a:off x="731520" y="3383280"/>
            <a:ext cx="3474720" cy="36576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Conversion from €179 Whitening Hook</a:t>
            </a:r>
            <a:endParaRPr lang="en-US" sz="1200" dirty="0"/>
          </a:p>
        </p:txBody>
      </p:sp>
      <p:sp>
        <p:nvSpPr>
          <p:cNvPr id="14" name="Shape 12"/>
          <p:cNvSpPr/>
          <p:nvPr/>
        </p:nvSpPr>
        <p:spPr>
          <a:xfrm>
            <a:off x="4754880" y="2651760"/>
            <a:ext cx="4023360" cy="1188720"/>
          </a:xfrm>
          <a:prstGeom prst="roundRect">
            <a:avLst>
              <a:gd name="adj" fmla="val 7692"/>
            </a:avLst>
          </a:prstGeom>
          <a:solidFill>
            <a:srgbClr val="FFFFFF"/>
          </a:solidFill>
          <a:ln/>
          <a:effectLst>
            <a:outerShdw sx="100000" sy="100000" kx="0" ky="0" algn="bl" rotWithShape="0" blurRad="76200" dist="25400" dir="8100000">
              <a:srgbClr val="000000">
                <a:alpha val="6000"/>
              </a:srgbClr>
            </a:outerShdw>
          </a:effectLst>
        </p:spPr>
      </p:sp>
      <p:sp>
        <p:nvSpPr>
          <p:cNvPr id="15" name="Text 13"/>
          <p:cNvSpPr/>
          <p:nvPr/>
        </p:nvSpPr>
        <p:spPr>
          <a:xfrm>
            <a:off x="5029200" y="2834640"/>
            <a:ext cx="3474720" cy="548640"/>
          </a:xfrm>
          <a:prstGeom prst="rect">
            <a:avLst/>
          </a:prstGeom>
          <a:noFill/>
          <a:ln/>
        </p:spPr>
        <p:txBody>
          <a:bodyPr wrap="square" lIns="0" tIns="0" rIns="0" bIns="0" rtlCol="0" anchor="ctr"/>
          <a:lstStyle/>
          <a:p>
            <a:pPr indent="0" marL="0">
              <a:buNone/>
            </a:pPr>
            <a:r>
              <a:rPr lang="en-US" sz="2600" b="1" dirty="0">
                <a:solidFill>
                  <a:srgbClr val="0D9488"/>
                </a:solidFill>
                <a:latin typeface="Arial" pitchFamily="34" charset="0"/>
                <a:ea typeface="Arial" pitchFamily="34" charset="-122"/>
                <a:cs typeface="Arial" pitchFamily="34" charset="-120"/>
              </a:rPr>
              <a:t>Strong</a:t>
            </a:r>
            <a:endParaRPr lang="en-US" sz="2600" dirty="0"/>
          </a:p>
        </p:txBody>
      </p:sp>
      <p:sp>
        <p:nvSpPr>
          <p:cNvPr id="16" name="Text 14"/>
          <p:cNvSpPr/>
          <p:nvPr/>
        </p:nvSpPr>
        <p:spPr>
          <a:xfrm>
            <a:off x="5029200" y="3383280"/>
            <a:ext cx="3474720" cy="36576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Local Brand &amp; Medical Tourism Position</a:t>
            </a:r>
            <a:endParaRPr lang="en-US" sz="1200" dirty="0"/>
          </a:p>
        </p:txBody>
      </p:sp>
      <p:sp>
        <p:nvSpPr>
          <p:cNvPr id="17" name="Text 15"/>
          <p:cNvSpPr/>
          <p:nvPr/>
        </p:nvSpPr>
        <p:spPr>
          <a:xfrm>
            <a:off x="457200" y="4206240"/>
            <a:ext cx="8229600" cy="457200"/>
          </a:xfrm>
          <a:prstGeom prst="rect">
            <a:avLst/>
          </a:prstGeom>
          <a:noFill/>
          <a:ln/>
        </p:spPr>
        <p:txBody>
          <a:bodyPr wrap="square" lIns="0" tIns="0" rIns="0" bIns="0" rtlCol="0" anchor="ctr"/>
          <a:lstStyle/>
          <a:p>
            <a:pPr indent="0" marL="0">
              <a:buNone/>
            </a:pPr>
            <a:r>
              <a:rPr lang="en-US" sz="1200" i="1" dirty="0">
                <a:solidFill>
                  <a:srgbClr val="0F766E"/>
                </a:solidFill>
                <a:latin typeface="Arial" pitchFamily="34" charset="0"/>
                <a:ea typeface="Arial" pitchFamily="34" charset="-122"/>
                <a:cs typeface="Arial" pitchFamily="34" charset="-120"/>
              </a:rPr>
              <a:t>Detailed unit economics, patient volumes, and conversion data available in the data room. Projections build directly from this proven baseline.</a:t>
            </a:r>
            <a:endParaRPr lang="en-US" sz="1200" dirty="0"/>
          </a:p>
        </p:txBody>
      </p:sp>
      <p:sp>
        <p:nvSpPr>
          <p:cNvPr id="18" name="Text 16"/>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FINANCIAL PROJECTIONS</a:t>
            </a:r>
            <a:endParaRPr lang="en-US" sz="1100" dirty="0"/>
          </a:p>
        </p:txBody>
      </p:sp>
      <p:sp>
        <p:nvSpPr>
          <p:cNvPr id="4" name="Text 2"/>
          <p:cNvSpPr/>
          <p:nvPr/>
        </p:nvSpPr>
        <p:spPr>
          <a:xfrm>
            <a:off x="457200" y="640080"/>
            <a:ext cx="8229600" cy="457200"/>
          </a:xfrm>
          <a:prstGeom prst="rect">
            <a:avLst/>
          </a:prstGeom>
          <a:noFill/>
          <a:ln/>
        </p:spPr>
        <p:txBody>
          <a:bodyPr wrap="square" lIns="0" tIns="0" rIns="0" bIns="0" rtlCol="0" anchor="ctr"/>
          <a:lstStyle/>
          <a:p>
            <a:pPr indent="0" marL="0">
              <a:buNone/>
            </a:pPr>
            <a:r>
              <a:rPr lang="en-US" sz="2000" b="1" dirty="0">
                <a:solidFill>
                  <a:srgbClr val="1E293B"/>
                </a:solidFill>
                <a:latin typeface="Arial" pitchFamily="34" charset="0"/>
                <a:ea typeface="Arial" pitchFamily="34" charset="-122"/>
                <a:cs typeface="Arial" pitchFamily="34" charset="-120"/>
              </a:rPr>
              <a:t>Path to €50–75M Revenue, 30% EBITDA Margins</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029200" cy="2011680"/>
        </p:xfrm>
        <a:graphic>
          <a:graphicData uri="http://schemas.openxmlformats.org/drawingml/2006/table">
            <a:tbl>
              <a:tblPr/>
              <a:tblGrid>
                <a:gridCol w="2011680"/>
                <a:gridCol w="1508760"/>
                <a:gridCol w="1508760"/>
              </a:tblGrid>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Metric</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Year 3</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Year 5</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502920">
                <a:tc>
                  <a:txBody>
                    <a:bodyPr/>
                    <a:lstStyle/>
                    <a:p>
                      <a:pPr indent="0" marL="0">
                        <a:buNone/>
                      </a:pPr>
                      <a:r>
                        <a:rPr lang="en-US" sz="1200" b="1" dirty="0">
                          <a:solidFill>
                            <a:srgbClr val="1E293B"/>
                          </a:solidFill>
                          <a:latin typeface="Arial" pitchFamily="34" charset="0"/>
                          <a:ea typeface="Arial" pitchFamily="34" charset="-122"/>
                          <a:cs typeface="Arial" pitchFamily="34" charset="-120"/>
                        </a:rPr>
                        <a:t>Revenue (€M)</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27.5</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62.5</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200" b="1" dirty="0">
                          <a:solidFill>
                            <a:srgbClr val="1E293B"/>
                          </a:solidFill>
                          <a:latin typeface="Arial" pitchFamily="34" charset="0"/>
                          <a:ea typeface="Arial" pitchFamily="34" charset="-122"/>
                          <a:cs typeface="Arial" pitchFamily="34" charset="-120"/>
                        </a:rPr>
                        <a:t>EBITDA (€M)</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8.45</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18.75</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rgbClr val="1E293B"/>
                          </a:solidFill>
                          <a:latin typeface="Arial" pitchFamily="34" charset="0"/>
                          <a:ea typeface="Arial" pitchFamily="34" charset="-122"/>
                          <a:cs typeface="Arial" pitchFamily="34" charset="-120"/>
                        </a:rPr>
                        <a:t>EBITDA Margin</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6" name="Shape 3"/>
          <p:cNvSpPr/>
          <p:nvPr/>
        </p:nvSpPr>
        <p:spPr>
          <a:xfrm>
            <a:off x="5669280" y="1234440"/>
            <a:ext cx="3017520" cy="914400"/>
          </a:xfrm>
          <a:prstGeom prst="roundRect">
            <a:avLst>
              <a:gd name="adj" fmla="val 8000"/>
            </a:avLst>
          </a:prstGeom>
          <a:solidFill>
            <a:srgbClr val="0F172A"/>
          </a:solidFill>
          <a:ln/>
        </p:spPr>
      </p:sp>
      <p:sp>
        <p:nvSpPr>
          <p:cNvPr id="7" name="Text 4"/>
          <p:cNvSpPr/>
          <p:nvPr/>
        </p:nvSpPr>
        <p:spPr>
          <a:xfrm>
            <a:off x="5669280" y="1325880"/>
            <a:ext cx="3017520" cy="274320"/>
          </a:xfrm>
          <a:prstGeom prst="rect">
            <a:avLst/>
          </a:prstGeom>
          <a:noFill/>
          <a:ln/>
        </p:spPr>
        <p:txBody>
          <a:bodyPr wrap="square" lIns="0" tIns="0" rIns="0" bIns="0" rtlCol="0" anchor="ctr"/>
          <a:lstStyle/>
          <a:p>
            <a:pPr algn="ctr" indent="0" marL="0">
              <a:buNone/>
            </a:pPr>
            <a:r>
              <a:rPr lang="en-US" sz="1000" b="1" dirty="0">
                <a:solidFill>
                  <a:srgbClr val="14B8A6"/>
                </a:solidFill>
                <a:latin typeface="Arial" pitchFamily="34" charset="0"/>
                <a:ea typeface="Arial" pitchFamily="34" charset="-122"/>
                <a:cs typeface="Arial" pitchFamily="34" charset="-120"/>
              </a:rPr>
              <a:t>YEAR 5 TARGET</a:t>
            </a:r>
            <a:endParaRPr lang="en-US" sz="1000" dirty="0"/>
          </a:p>
        </p:txBody>
      </p:sp>
      <p:sp>
        <p:nvSpPr>
          <p:cNvPr id="8" name="Text 5"/>
          <p:cNvSpPr/>
          <p:nvPr/>
        </p:nvSpPr>
        <p:spPr>
          <a:xfrm>
            <a:off x="5669280" y="1600200"/>
            <a:ext cx="3017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€50–75M Revenue</a:t>
            </a:r>
            <a:endParaRPr lang="en-US" sz="1600" dirty="0"/>
          </a:p>
        </p:txBody>
      </p:sp>
      <p:sp>
        <p:nvSpPr>
          <p:cNvPr id="9" name="Shape 6"/>
          <p:cNvSpPr/>
          <p:nvPr/>
        </p:nvSpPr>
        <p:spPr>
          <a:xfrm>
            <a:off x="5669280" y="2286000"/>
            <a:ext cx="3017520" cy="914400"/>
          </a:xfrm>
          <a:prstGeom prst="roundRect">
            <a:avLst>
              <a:gd name="adj" fmla="val 8000"/>
            </a:avLst>
          </a:prstGeom>
          <a:solidFill>
            <a:srgbClr val="0D9488"/>
          </a:solidFill>
          <a:ln/>
        </p:spPr>
      </p:sp>
      <p:sp>
        <p:nvSpPr>
          <p:cNvPr id="10" name="Text 7"/>
          <p:cNvSpPr/>
          <p:nvPr/>
        </p:nvSpPr>
        <p:spPr>
          <a:xfrm>
            <a:off x="5669280" y="2377440"/>
            <a:ext cx="30175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YEAR 5 EBITDA</a:t>
            </a:r>
            <a:endParaRPr lang="en-US" sz="1000" dirty="0"/>
          </a:p>
        </p:txBody>
      </p:sp>
      <p:sp>
        <p:nvSpPr>
          <p:cNvPr id="11" name="Text 8"/>
          <p:cNvSpPr/>
          <p:nvPr/>
        </p:nvSpPr>
        <p:spPr>
          <a:xfrm>
            <a:off x="5669280" y="2651760"/>
            <a:ext cx="30175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€15–22.5M  |  ~30% Margin</a:t>
            </a:r>
            <a:endParaRPr lang="en-US" sz="1400" dirty="0"/>
          </a:p>
        </p:txBody>
      </p:sp>
      <p:sp>
        <p:nvSpPr>
          <p:cNvPr id="12" name="Text 9"/>
          <p:cNvSpPr/>
          <p:nvPr/>
        </p:nvSpPr>
        <p:spPr>
          <a:xfrm>
            <a:off x="457200" y="3474720"/>
            <a:ext cx="8229600" cy="54864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Scaling from a profitable, de-risked €2.5M Marbella flagship. Full financial model and assumption details available in data room.</a:t>
            </a:r>
            <a:endParaRPr lang="en-US" sz="1200" dirty="0"/>
          </a:p>
        </p:txBody>
      </p:sp>
      <p:sp>
        <p:nvSpPr>
          <p:cNvPr id="13" name="Text 10"/>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100" b="1" dirty="0">
                <a:solidFill>
                  <a:srgbClr val="0D9488"/>
                </a:solidFill>
                <a:latin typeface="Arial" pitchFamily="34" charset="0"/>
                <a:ea typeface="Arial" pitchFamily="34" charset="-122"/>
                <a:cs typeface="Arial" pitchFamily="34" charset="-120"/>
              </a:rPr>
              <a:t>THE ASK</a:t>
            </a:r>
            <a:endParaRPr lang="en-US" sz="1100" dirty="0"/>
          </a:p>
        </p:txBody>
      </p:sp>
      <p:sp>
        <p:nvSpPr>
          <p:cNvPr id="4" name="Text 2"/>
          <p:cNvSpPr/>
          <p:nvPr/>
        </p:nvSpPr>
        <p:spPr>
          <a:xfrm>
            <a:off x="457200" y="640080"/>
            <a:ext cx="8229600" cy="457200"/>
          </a:xfrm>
          <a:prstGeom prst="rect">
            <a:avLst/>
          </a:prstGeom>
          <a:noFill/>
          <a:ln/>
        </p:spPr>
        <p:txBody>
          <a:bodyPr wrap="square" lIns="0" tIns="0" rIns="0" bIns="0" rtlCol="0" anchor="ctr"/>
          <a:lstStyle/>
          <a:p>
            <a:pPr indent="0" marL="0">
              <a:buNone/>
            </a:pPr>
            <a:r>
              <a:rPr lang="en-US" sz="2200" b="1" dirty="0">
                <a:solidFill>
                  <a:srgbClr val="1E293B"/>
                </a:solidFill>
                <a:latin typeface="Arial" pitchFamily="34" charset="0"/>
                <a:ea typeface="Arial" pitchFamily="34" charset="-122"/>
                <a:cs typeface="Arial" pitchFamily="34" charset="-120"/>
              </a:rPr>
              <a:t>€12.5M Series A — Gated Drawdown</a:t>
            </a:r>
            <a:endParaRPr lang="en-US" sz="2200" dirty="0"/>
          </a:p>
        </p:txBody>
      </p:sp>
      <p:sp>
        <p:nvSpPr>
          <p:cNvPr id="5" name="Shape 3"/>
          <p:cNvSpPr/>
          <p:nvPr/>
        </p:nvSpPr>
        <p:spPr>
          <a:xfrm>
            <a:off x="457200" y="1234440"/>
            <a:ext cx="4023360" cy="1188720"/>
          </a:xfrm>
          <a:prstGeom prst="roundRect">
            <a:avLst>
              <a:gd name="adj" fmla="val 7692"/>
            </a:avLst>
          </a:prstGeom>
          <a:solidFill>
            <a:srgbClr val="0F172A"/>
          </a:solidFill>
          <a:ln/>
        </p:spPr>
      </p:sp>
      <p:sp>
        <p:nvSpPr>
          <p:cNvPr id="6" name="Text 4"/>
          <p:cNvSpPr/>
          <p:nvPr/>
        </p:nvSpPr>
        <p:spPr>
          <a:xfrm>
            <a:off x="457200" y="1371600"/>
            <a:ext cx="4023360" cy="320040"/>
          </a:xfrm>
          <a:prstGeom prst="rect">
            <a:avLst/>
          </a:prstGeom>
          <a:noFill/>
          <a:ln/>
        </p:spPr>
        <p:txBody>
          <a:bodyPr wrap="square" lIns="0" tIns="0" rIns="0" bIns="0" rtlCol="0" anchor="ctr"/>
          <a:lstStyle/>
          <a:p>
            <a:pPr algn="ctr" indent="0" marL="0">
              <a:buNone/>
            </a:pPr>
            <a:r>
              <a:rPr lang="en-US" sz="1100" b="1" dirty="0">
                <a:solidFill>
                  <a:srgbClr val="14B8A6"/>
                </a:solidFill>
                <a:latin typeface="Arial" pitchFamily="34" charset="0"/>
                <a:ea typeface="Arial" pitchFamily="34" charset="-122"/>
                <a:cs typeface="Arial" pitchFamily="34" charset="-120"/>
              </a:rPr>
              <a:t>PRE-MONEY VALUATION</a:t>
            </a:r>
            <a:endParaRPr lang="en-US" sz="1100" dirty="0"/>
          </a:p>
        </p:txBody>
      </p:sp>
      <p:sp>
        <p:nvSpPr>
          <p:cNvPr id="7" name="Text 5"/>
          <p:cNvSpPr/>
          <p:nvPr/>
        </p:nvSpPr>
        <p:spPr>
          <a:xfrm>
            <a:off x="457200" y="1737360"/>
            <a:ext cx="402336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€37,500,000</a:t>
            </a:r>
            <a:endParaRPr lang="en-US" sz="2600" dirty="0"/>
          </a:p>
        </p:txBody>
      </p:sp>
      <p:sp>
        <p:nvSpPr>
          <p:cNvPr id="8" name="Shape 6"/>
          <p:cNvSpPr/>
          <p:nvPr/>
        </p:nvSpPr>
        <p:spPr>
          <a:xfrm>
            <a:off x="4663440" y="1234440"/>
            <a:ext cx="4023360" cy="1188720"/>
          </a:xfrm>
          <a:prstGeom prst="roundRect">
            <a:avLst>
              <a:gd name="adj" fmla="val 7692"/>
            </a:avLst>
          </a:prstGeom>
          <a:solidFill>
            <a:srgbClr val="FFFFFF"/>
          </a:solidFill>
          <a:ln/>
          <a:effectLst>
            <a:outerShdw sx="100000" sy="100000" kx="0" ky="0" algn="bl" rotWithShape="0" blurRad="63500" dist="12700" dir="8100000">
              <a:srgbClr val="000000">
                <a:alpha val="5000"/>
              </a:srgbClr>
            </a:outerShdw>
          </a:effectLst>
        </p:spPr>
      </p:sp>
      <p:sp>
        <p:nvSpPr>
          <p:cNvPr id="9" name="Text 7"/>
          <p:cNvSpPr/>
          <p:nvPr/>
        </p:nvSpPr>
        <p:spPr>
          <a:xfrm>
            <a:off x="4846320" y="1371600"/>
            <a:ext cx="3657600" cy="45720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Only €4M required to ignite the engine</a:t>
            </a:r>
            <a:endParaRPr lang="en-US" sz="1300" dirty="0"/>
          </a:p>
        </p:txBody>
      </p:sp>
      <p:sp>
        <p:nvSpPr>
          <p:cNvPr id="10" name="Text 8"/>
          <p:cNvSpPr/>
          <p:nvPr/>
        </p:nvSpPr>
        <p:spPr>
          <a:xfrm>
            <a:off x="4846320" y="1828800"/>
            <a:ext cx="3657600" cy="45720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Remaining €8.5M drawn over 24 months against strict milestones</a:t>
            </a:r>
            <a:endParaRPr lang="en-US" sz="1100" dirty="0"/>
          </a:p>
        </p:txBody>
      </p:sp>
      <p:sp>
        <p:nvSpPr>
          <p:cNvPr id="11" name="Text 9"/>
          <p:cNvSpPr/>
          <p:nvPr/>
        </p:nvSpPr>
        <p:spPr>
          <a:xfrm>
            <a:off x="457200" y="2606040"/>
            <a:ext cx="8229600" cy="320040"/>
          </a:xfrm>
          <a:prstGeom prst="rect">
            <a:avLst/>
          </a:prstGeom>
          <a:noFill/>
          <a:ln/>
        </p:spPr>
        <p:txBody>
          <a:bodyPr wrap="square" lIns="0" tIns="0" rIns="0" bIns="0" rtlCol="0" anchor="ctr"/>
          <a:lstStyle/>
          <a:p>
            <a:pPr indent="0" marL="0">
              <a:buNone/>
            </a:pPr>
            <a:r>
              <a:rPr lang="en-US" sz="1200" b="1" dirty="0">
                <a:solidFill>
                  <a:srgbClr val="0D9488"/>
                </a:solidFill>
                <a:latin typeface="Arial" pitchFamily="34" charset="0"/>
                <a:ea typeface="Arial" pitchFamily="34" charset="-122"/>
                <a:cs typeface="Arial" pitchFamily="34" charset="-120"/>
              </a:rPr>
              <a:t>INITIAL €4M USE OF FUNDS</a:t>
            </a:r>
            <a:endParaRPr lang="en-US" sz="1200" dirty="0"/>
          </a:p>
        </p:txBody>
      </p:sp>
      <p:sp>
        <p:nvSpPr>
          <p:cNvPr id="12" name="Shape 10"/>
          <p:cNvSpPr/>
          <p:nvPr/>
        </p:nvSpPr>
        <p:spPr>
          <a:xfrm>
            <a:off x="457200" y="3017520"/>
            <a:ext cx="8229600" cy="548640"/>
          </a:xfrm>
          <a:prstGeom prst="roundRect">
            <a:avLst>
              <a:gd name="adj" fmla="val 10000"/>
            </a:avLst>
          </a:prstGeom>
          <a:solidFill>
            <a:srgbClr val="FFFFFF"/>
          </a:solidFill>
          <a:ln/>
        </p:spPr>
      </p:sp>
      <p:sp>
        <p:nvSpPr>
          <p:cNvPr id="13" name="Text 11"/>
          <p:cNvSpPr/>
          <p:nvPr/>
        </p:nvSpPr>
        <p:spPr>
          <a:xfrm>
            <a:off x="640080" y="3090672"/>
            <a:ext cx="4114800" cy="41148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C-Suite Hires &amp; Leadership</a:t>
            </a:r>
            <a:endParaRPr lang="en-US" sz="1300" dirty="0"/>
          </a:p>
        </p:txBody>
      </p:sp>
      <p:sp>
        <p:nvSpPr>
          <p:cNvPr id="14" name="Text 12"/>
          <p:cNvSpPr/>
          <p:nvPr/>
        </p:nvSpPr>
        <p:spPr>
          <a:xfrm>
            <a:off x="4846320" y="3090672"/>
            <a:ext cx="3657600" cy="41148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Core team to scale operations</a:t>
            </a:r>
            <a:endParaRPr lang="en-US" sz="1200" dirty="0"/>
          </a:p>
        </p:txBody>
      </p:sp>
      <p:sp>
        <p:nvSpPr>
          <p:cNvPr id="15" name="Shape 13"/>
          <p:cNvSpPr/>
          <p:nvPr/>
        </p:nvSpPr>
        <p:spPr>
          <a:xfrm>
            <a:off x="457200" y="3657600"/>
            <a:ext cx="8229600" cy="548640"/>
          </a:xfrm>
          <a:prstGeom prst="roundRect">
            <a:avLst>
              <a:gd name="adj" fmla="val 10000"/>
            </a:avLst>
          </a:prstGeom>
          <a:solidFill>
            <a:srgbClr val="FFFFFF"/>
          </a:solidFill>
          <a:ln/>
        </p:spPr>
      </p:sp>
      <p:sp>
        <p:nvSpPr>
          <p:cNvPr id="16" name="Text 14"/>
          <p:cNvSpPr/>
          <p:nvPr/>
        </p:nvSpPr>
        <p:spPr>
          <a:xfrm>
            <a:off x="640080" y="3730752"/>
            <a:ext cx="4114800" cy="41148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Flagship CapEx &amp; Kiosk Rollout</a:t>
            </a:r>
            <a:endParaRPr lang="en-US" sz="1300" dirty="0"/>
          </a:p>
        </p:txBody>
      </p:sp>
      <p:sp>
        <p:nvSpPr>
          <p:cNvPr id="17" name="Text 15"/>
          <p:cNvSpPr/>
          <p:nvPr/>
        </p:nvSpPr>
        <p:spPr>
          <a:xfrm>
            <a:off x="4846320" y="3730752"/>
            <a:ext cx="3657600" cy="41148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Marbella expansion + first Smile Pods</a:t>
            </a:r>
            <a:endParaRPr lang="en-US" sz="1200" dirty="0"/>
          </a:p>
        </p:txBody>
      </p:sp>
      <p:sp>
        <p:nvSpPr>
          <p:cNvPr id="18" name="Shape 16"/>
          <p:cNvSpPr/>
          <p:nvPr/>
        </p:nvSpPr>
        <p:spPr>
          <a:xfrm>
            <a:off x="457200" y="4297680"/>
            <a:ext cx="8229600" cy="548640"/>
          </a:xfrm>
          <a:prstGeom prst="roundRect">
            <a:avLst>
              <a:gd name="adj" fmla="val 10000"/>
            </a:avLst>
          </a:prstGeom>
          <a:solidFill>
            <a:srgbClr val="FFFFFF"/>
          </a:solidFill>
          <a:ln/>
        </p:spPr>
      </p:sp>
      <p:sp>
        <p:nvSpPr>
          <p:cNvPr id="19" name="Text 17"/>
          <p:cNvSpPr/>
          <p:nvPr/>
        </p:nvSpPr>
        <p:spPr>
          <a:xfrm>
            <a:off x="640080" y="4370832"/>
            <a:ext cx="4114800" cy="41148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Agentic AI Platform Scaling</a:t>
            </a:r>
            <a:endParaRPr lang="en-US" sz="1300" dirty="0"/>
          </a:p>
        </p:txBody>
      </p:sp>
      <p:sp>
        <p:nvSpPr>
          <p:cNvPr id="20" name="Text 18"/>
          <p:cNvSpPr/>
          <p:nvPr/>
        </p:nvSpPr>
        <p:spPr>
          <a:xfrm>
            <a:off x="4846320" y="4370832"/>
            <a:ext cx="3657600" cy="41148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Product development &amp; first B2B licenses</a:t>
            </a:r>
            <a:endParaRPr lang="en-US" sz="1200" dirty="0"/>
          </a:p>
        </p:txBody>
      </p:sp>
      <p:sp>
        <p:nvSpPr>
          <p:cNvPr id="21" name="Text 19"/>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pic>
        <p:nvPicPr>
          <p:cNvPr id="2" name="Image 0" descr="/home/workdir/artifacts/logo.png">    </p:cNvPr>
          <p:cNvPicPr>
            <a:picLocks noChangeAspect="1"/>
          </p:cNvPicPr>
          <p:nvPr/>
        </p:nvPicPr>
        <p:blipFill>
          <a:blip r:embed="rId1"/>
          <a:srcRect l="0" r="0" t="0" b="0"/>
          <a:stretch/>
        </p:blipFill>
        <p:spPr>
          <a:xfrm>
            <a:off x="548640" y="274320"/>
            <a:ext cx="1463040" cy="457200"/>
          </a:xfrm>
          <a:prstGeom prst="rect">
            <a:avLst/>
          </a:prstGeom>
        </p:spPr>
      </p:pic>
      <p:sp>
        <p:nvSpPr>
          <p:cNvPr id="3" name="Text 0"/>
          <p:cNvSpPr/>
          <p:nvPr/>
        </p:nvSpPr>
        <p:spPr>
          <a:xfrm>
            <a:off x="548640" y="914400"/>
            <a:ext cx="8046720" cy="365760"/>
          </a:xfrm>
          <a:prstGeom prst="rect">
            <a:avLst/>
          </a:prstGeom>
          <a:noFill/>
          <a:ln/>
        </p:spPr>
        <p:txBody>
          <a:bodyPr wrap="square" lIns="0" tIns="0" rIns="0" bIns="0" rtlCol="0" anchor="ctr"/>
          <a:lstStyle/>
          <a:p>
            <a:pPr indent="0" marL="0">
              <a:buNone/>
            </a:pPr>
            <a:r>
              <a:rPr lang="en-US" sz="1400" b="1" dirty="0">
                <a:solidFill>
                  <a:srgbClr val="14B8A6"/>
                </a:solidFill>
                <a:latin typeface="Arial" pitchFamily="34" charset="0"/>
                <a:ea typeface="Arial" pitchFamily="34" charset="-122"/>
                <a:cs typeface="Arial" pitchFamily="34" charset="-120"/>
              </a:rPr>
              <a:t>YEAR-5 VISION: IPO ON A EUROPEAN GROWTH EXCHANGE</a:t>
            </a:r>
            <a:endParaRPr lang="en-US" sz="1400" dirty="0"/>
          </a:p>
        </p:txBody>
      </p:sp>
      <p:sp>
        <p:nvSpPr>
          <p:cNvPr id="4" name="Text 1"/>
          <p:cNvSpPr/>
          <p:nvPr/>
        </p:nvSpPr>
        <p:spPr>
          <a:xfrm>
            <a:off x="548640" y="1325880"/>
            <a:ext cx="804672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Target Exit Valuation: €180M – €270M</a:t>
            </a:r>
            <a:endParaRPr lang="en-US" sz="2200" dirty="0"/>
          </a:p>
        </p:txBody>
      </p:sp>
      <p:sp>
        <p:nvSpPr>
          <p:cNvPr id="5" name="Text 2"/>
          <p:cNvSpPr/>
          <p:nvPr/>
        </p:nvSpPr>
        <p:spPr>
          <a:xfrm>
            <a:off x="548640" y="1783080"/>
            <a:ext cx="8046720" cy="365760"/>
          </a:xfrm>
          <a:prstGeom prst="rect">
            <a:avLst/>
          </a:prstGeom>
          <a:noFill/>
          <a:ln/>
        </p:spPr>
        <p:txBody>
          <a:bodyPr wrap="square" lIns="0" tIns="0" rIns="0" bIns="0" rtlCol="0" anchor="ctr"/>
          <a:lstStyle/>
          <a:p>
            <a:pPr indent="0" marL="0">
              <a:buNone/>
            </a:pPr>
            <a:r>
              <a:rPr lang="en-US" sz="1300" dirty="0">
                <a:solidFill>
                  <a:srgbClr val="94A3B8"/>
                </a:solidFill>
                <a:latin typeface="Arial" pitchFamily="34" charset="0"/>
                <a:ea typeface="Arial" pitchFamily="34" charset="-122"/>
                <a:cs typeface="Arial" pitchFamily="34" charset="-120"/>
              </a:rPr>
              <a:t>3.5–5× return within 60 months  |  12–15× EBITDA multiple on €15–22.5M</a:t>
            </a:r>
            <a:endParaRPr lang="en-US" sz="1300" dirty="0"/>
          </a:p>
        </p:txBody>
      </p:sp>
      <p:sp>
        <p:nvSpPr>
          <p:cNvPr id="6" name="Shape 3"/>
          <p:cNvSpPr/>
          <p:nvPr/>
        </p:nvSpPr>
        <p:spPr>
          <a:xfrm>
            <a:off x="548640" y="2286000"/>
            <a:ext cx="8046720" cy="1188720"/>
          </a:xfrm>
          <a:prstGeom prst="roundRect">
            <a:avLst>
              <a:gd name="adj" fmla="val 6154"/>
            </a:avLst>
          </a:prstGeom>
          <a:solidFill>
            <a:srgbClr val="1E293B"/>
          </a:solidFill>
          <a:ln/>
        </p:spPr>
      </p:sp>
      <p:sp>
        <p:nvSpPr>
          <p:cNvPr id="7" name="Text 4"/>
          <p:cNvSpPr/>
          <p:nvPr/>
        </p:nvSpPr>
        <p:spPr>
          <a:xfrm>
            <a:off x="731520" y="2423160"/>
            <a:ext cx="7680960" cy="320040"/>
          </a:xfrm>
          <a:prstGeom prst="rect">
            <a:avLst/>
          </a:prstGeom>
          <a:noFill/>
          <a:ln/>
        </p:spPr>
        <p:txBody>
          <a:bodyPr wrap="square" lIns="0" tIns="0" rIns="0" bIns="0" rtlCol="0" anchor="ctr"/>
          <a:lstStyle/>
          <a:p>
            <a:pPr indent="0" marL="0">
              <a:buNone/>
            </a:pPr>
            <a:r>
              <a:rPr lang="en-US" sz="1200" b="1" dirty="0">
                <a:solidFill>
                  <a:srgbClr val="14B8A6"/>
                </a:solidFill>
                <a:latin typeface="Arial" pitchFamily="34" charset="0"/>
                <a:ea typeface="Arial" pitchFamily="34" charset="-122"/>
                <a:cs typeface="Arial" pitchFamily="34" charset="-120"/>
              </a:rPr>
              <a:t>LEADERSHIP TEAM</a:t>
            </a:r>
            <a:endParaRPr lang="en-US" sz="1200" dirty="0"/>
          </a:p>
        </p:txBody>
      </p:sp>
      <p:sp>
        <p:nvSpPr>
          <p:cNvPr id="8" name="Text 5"/>
          <p:cNvSpPr/>
          <p:nvPr/>
        </p:nvSpPr>
        <p:spPr>
          <a:xfrm>
            <a:off x="731520" y="2743200"/>
            <a:ext cx="7680960" cy="640080"/>
          </a:xfrm>
          <a:prstGeom prst="rect">
            <a:avLst/>
          </a:prstGeom>
          <a:noFill/>
          <a:ln/>
        </p:spPr>
        <p:txBody>
          <a:bodyPr wrap="square" lIns="0" tIns="0" rIns="0" bIns="0" rtlCol="0" anchor="ctr"/>
          <a:lstStyle/>
          <a:p>
            <a:pPr indent="0" marL="0">
              <a:buNone/>
            </a:pPr>
            <a:r>
              <a:rPr lang="en-US" sz="1200" dirty="0">
                <a:solidFill>
                  <a:srgbClr val="CBD5E1"/>
                </a:solidFill>
                <a:latin typeface="Arial" pitchFamily="34" charset="0"/>
                <a:ea typeface="Arial" pitchFamily="34" charset="-122"/>
                <a:cs typeface="Arial" pitchFamily="34" charset="-120"/>
              </a:rPr>
              <a:t>Experienced operators and founders with deep expertise in European dental scaling, medical tourism, healthtech AI, and international B2B exports. Full biographies, track records, and org chart available in the data room.</a:t>
            </a:r>
            <a:endParaRPr lang="en-US" sz="1200" dirty="0"/>
          </a:p>
        </p:txBody>
      </p:sp>
      <p:sp>
        <p:nvSpPr>
          <p:cNvPr id="9" name="Text 6"/>
          <p:cNvSpPr/>
          <p:nvPr/>
        </p:nvSpPr>
        <p:spPr>
          <a:xfrm>
            <a:off x="548640" y="3657600"/>
            <a:ext cx="804672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Thank You</a:t>
            </a:r>
            <a:endParaRPr lang="en-US" sz="1800" dirty="0"/>
          </a:p>
        </p:txBody>
      </p:sp>
      <p:sp>
        <p:nvSpPr>
          <p:cNvPr id="10" name="Text 7"/>
          <p:cNvSpPr/>
          <p:nvPr/>
        </p:nvSpPr>
        <p:spPr>
          <a:xfrm>
            <a:off x="548640" y="4069080"/>
            <a:ext cx="8046720" cy="36576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hello@cityclinic.io  |  Parque Comercial La Cañada Shopping, Carretera de Ojén, S/N, Local 131B, 29603 Marbella, Málaga  |  NICA 66044</a:t>
            </a:r>
            <a:endParaRPr lang="en-US" sz="1000" dirty="0"/>
          </a:p>
        </p:txBody>
      </p:sp>
      <p:sp>
        <p:nvSpPr>
          <p:cNvPr id="11" name="Text 8"/>
          <p:cNvSpPr/>
          <p:nvPr/>
        </p:nvSpPr>
        <p:spPr>
          <a:xfrm>
            <a:off x="7772400" y="4846320"/>
            <a:ext cx="109728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CityClinic Group - Investor Presentation</dc:title>
  <dc:subject>Series A Pitch Deck - Confidential</dc:subject>
  <dc:creator>CityClinic Group</dc:creator>
  <cp:lastModifiedBy>CityClinic Group</cp:lastModifiedBy>
  <cp:revision>1</cp:revision>
  <dcterms:created xsi:type="dcterms:W3CDTF">2026-07-05T23:38:06Z</dcterms:created>
  <dcterms:modified xsi:type="dcterms:W3CDTF">2026-07-05T23:38:06Z</dcterms:modified>
</cp:coreProperties>
</file>